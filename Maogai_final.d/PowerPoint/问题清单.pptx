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B075-FB9F-6D0D-0CEA-A37934B6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DAEBE-71C3-8974-D7F6-86901E7EF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C0F28-284F-E605-7580-93A9D85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FF49-81E2-E515-1BA3-E19A06AA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52E0C-AA0B-2278-2AC6-BAC547CF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4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6AF1-3971-EF44-A6CE-6A84F92B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454CC-EE32-BD8D-6C71-8DB9D19B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BB46F-C26F-35BD-F13C-2D766BE8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CE2DE-63B3-E032-B912-04891C14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3994B-B497-8AE8-1627-D5509A03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3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5431A-319D-EED5-EF44-725EF4F1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97BF3-30CE-D3EF-100B-B1D4C352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B0A0-1274-5FA9-E081-AE8CB1E5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73D9B-A4B5-BFD3-94A1-C4AA45A6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34DCA-FE65-5387-2E66-96CC1DF6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B04B-49DA-DC7D-24D4-7197FC4A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57D9-A27E-6CA0-C49D-EB94AF589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BD1CC-C923-071E-CDA6-52CF4B6BC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C5B98-F71F-DCAB-7FC1-00C2C25B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FF812-2EF0-AAD1-CD34-B84BA084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63E09-1F11-B9DE-6397-F50B4789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4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A800-3A32-E87B-CE70-D216EACD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BB434-2FAE-C273-04F7-D982E43B9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57C3F-C2B9-DFC4-C4B7-24D33806B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D46CA-091A-80B9-F258-034727E70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D7606-F1A2-6AA9-14A9-64D3FB45D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B64BD-ABE4-ACE5-C443-1DCD2AB5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B07D9-39CE-6BC1-B9A5-D3D28C90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E0B4C-766C-7161-E3CD-EC0E8E7D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7177-E010-0A3A-B971-C7F422DC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3E336-E7FB-073B-5541-51DF8913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5B998-F199-AFC9-E6BE-1BEB9ED6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AB682-4D1C-477F-7B45-49222016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6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A6EEA-CABE-3403-4B67-033680A4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3C041-03E2-F096-963B-A4B547FB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B0240-92D7-866B-66BC-E5AC16CA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4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140A-5AC5-35F6-9067-CFCFCEF74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8211-B93C-FDAD-2ECC-132D8041E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5931C-EE13-E6D1-F801-7DEF8A41F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CCE4F-9115-0EB0-6375-0846F434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5DF16-3440-1A62-109E-1E544B7C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4E312-6E01-CD93-398C-9986850D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1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CB6B-C513-3BA0-EB57-8621D2AB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0CE1C-00A8-D24E-5462-66D673C28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6BB53-05C4-9368-48C6-FE54D29AE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76A6C-52A1-DFB0-20E7-C71FAB12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201A7-A8C6-489C-A29D-0CF79BA8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ACCF9-E4CB-6254-DD4D-EADDD0AC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9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CD3F-D2C9-776A-1C48-B2498B77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FB168-A6D3-15B7-19BC-4FED55627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157CB-4C16-3162-F73C-1447FDFE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BBCD3-D12C-271B-A3CE-D1AFE912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DCDA-F41B-2D31-DD85-0B9EB81E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1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A1FF0-F053-8549-B8A3-D617B492F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D9690-AE0C-5FA7-A3CA-4916F9DF5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CC455-610D-2101-55C5-3C13D642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3D984-CCD6-6935-C8D9-1CCA6F1B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D54B-87A0-9C78-FE64-3568AA02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0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48275-CE92-3B24-66CC-369D4778F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9D305-6CDB-25BE-F326-5E202E282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FE297-F7D5-B14E-65A0-F5532F3CD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66E79-8D54-4DA0-9DCB-90C5DC44CB0C}" type="datetimeFigureOut">
              <a:rPr lang="en-US" smtClean="0"/>
              <a:t>2025-12-14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015C-E3BD-A8CC-8588-556FA3CCC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27F77-3A7C-939C-08E5-C71909CF9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129BA-2276-4F8B-8795-39EB4DF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7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croll: Vertical 4">
            <a:extLst>
              <a:ext uri="{FF2B5EF4-FFF2-40B4-BE49-F238E27FC236}">
                <a16:creationId xmlns:a16="http://schemas.microsoft.com/office/drawing/2014/main" id="{1B422C87-005E-1D8E-E209-21B9EE71990E}"/>
              </a:ext>
            </a:extLst>
          </p:cNvPr>
          <p:cNvSpPr/>
          <p:nvPr/>
        </p:nvSpPr>
        <p:spPr>
          <a:xfrm>
            <a:off x="600974" y="621101"/>
            <a:ext cx="10990052" cy="5615797"/>
          </a:xfrm>
          <a:prstGeom prst="verticalScroll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15B77-5C1C-5DFE-67C9-7FC39482C9FA}"/>
              </a:ext>
            </a:extLst>
          </p:cNvPr>
          <p:cNvSpPr txBox="1"/>
          <p:nvPr/>
        </p:nvSpPr>
        <p:spPr>
          <a:xfrm>
            <a:off x="1503366" y="1751616"/>
            <a:ext cx="9185267" cy="33547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>
                <a:latin typeface="Noto Sans CJK SC" panose="020B0200000000000000" pitchFamily="34" charset="-128"/>
                <a:ea typeface="Noto Sans CJK SC" panose="020B0200000000000000" pitchFamily="34" charset="-128"/>
              </a:rPr>
              <a:t>问题清单</a:t>
            </a:r>
            <a:endParaRPr lang="en-US" altLang="zh-CN" sz="2800" dirty="0"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经济波动循环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：“一活就乱、一乱就收、一收就死、一死就放”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寻租与腐败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：制度租金（计划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/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市场差价）驱动，代价波及经济、制度、社会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国企改革困境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：背负战略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/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社会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/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价格扭曲三重负担，缺乏自生能力，亏损与资产流失严重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金融体制弊端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：为补贴国企形成大量呆坏账，利率非市场化、银行非商业化、缺乏竞争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区域与城乡失衡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：东部先行导致差距扩大，城乡收入比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1995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年达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2.71:1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粮食供给压力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：人口增长</a:t>
            </a:r>
            <a:r>
              <a:rPr lang="en-US" altLang="zh-CN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+</a:t>
            </a:r>
            <a:r>
              <a:rPr lang="zh-CN" altLang="en-US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膳食升级扩大需求，政策制约（价改滞后、科研投入不足）限制供给</a:t>
            </a:r>
            <a:endParaRPr lang="en-US" altLang="zh-CN" dirty="0"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Noto Serif CJK SC" panose="02020200000000000000" pitchFamily="18" charset="-128"/>
                <a:ea typeface="Noto Serif CJK SC" panose="02020200000000000000" pitchFamily="18" charset="-128"/>
              </a:rPr>
              <a:t>……</a:t>
            </a:r>
            <a:endParaRPr lang="zh-CN" altLang="en-US" b="1" dirty="0"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9EBEA-24E8-96E6-38E8-80C37308BE33}"/>
              </a:ext>
            </a:extLst>
          </p:cNvPr>
          <p:cNvSpPr txBox="1"/>
          <p:nvPr/>
        </p:nvSpPr>
        <p:spPr>
          <a:xfrm>
            <a:off x="3048718" y="5106381"/>
            <a:ext cx="6094562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Noto Serif CJK SC" panose="02020200000000000000" pitchFamily="18" charset="-128"/>
                <a:ea typeface="Noto Serif CJK SC" panose="02020200000000000000" pitchFamily="18" charset="-128"/>
              </a:rPr>
              <a:t>　 传统赶超战略遗留影响 </a:t>
            </a:r>
            <a:r>
              <a:rPr lang="en-US" altLang="zh-CN" dirty="0">
                <a:solidFill>
                  <a:srgbClr val="C00000"/>
                </a:solidFill>
                <a:latin typeface="Noto Serif CJK SC" panose="02020200000000000000" pitchFamily="18" charset="-128"/>
                <a:ea typeface="Noto Serif CJK SC" panose="02020200000000000000" pitchFamily="18" charset="-128"/>
              </a:rPr>
              <a:t>+ </a:t>
            </a:r>
            <a:r>
              <a:rPr lang="zh-CN" altLang="en-US" dirty="0">
                <a:solidFill>
                  <a:srgbClr val="C00000"/>
                </a:solidFill>
                <a:latin typeface="Noto Serif CJK SC" panose="02020200000000000000" pitchFamily="18" charset="-128"/>
                <a:ea typeface="Noto Serif CJK SC" panose="02020200000000000000" pitchFamily="18" charset="-128"/>
              </a:rPr>
              <a:t>市场化改革不彻底</a:t>
            </a:r>
            <a:endParaRPr lang="en-US" altLang="zh-CN" dirty="0">
              <a:solidFill>
                <a:srgbClr val="C00000"/>
              </a:solidFill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Noto Serif CJK SC" panose="02020200000000000000" pitchFamily="18" charset="-128"/>
                <a:ea typeface="Noto Serif CJK SC" panose="02020200000000000000" pitchFamily="18" charset="-128"/>
              </a:rPr>
              <a:t>→ 宏观政策环境扭曲（如低利率、价格双轨）</a:t>
            </a:r>
            <a:endParaRPr lang="en-US" altLang="zh-CN" dirty="0">
              <a:solidFill>
                <a:srgbClr val="C00000"/>
              </a:solidFill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Noto Serif CJK SC" panose="02020200000000000000" pitchFamily="18" charset="-128"/>
                <a:ea typeface="Noto Serif CJK SC" panose="02020200000000000000" pitchFamily="18" charset="-128"/>
              </a:rPr>
              <a:t>→ 国企缺乏自生能力成为矛盾核心，衍生各类连锁问题</a:t>
            </a:r>
            <a:endParaRPr lang="en-US" dirty="0">
              <a:solidFill>
                <a:srgbClr val="C00000"/>
              </a:solidFill>
              <a:latin typeface="Noto Serif CJK SC" panose="02020200000000000000" pitchFamily="18" charset="-128"/>
              <a:ea typeface="Noto Serif CJK SC" panose="02020200000000000000" pitchFamily="18" charset="-128"/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8D108FB4-CF77-BDC6-04B6-F713D98536BD}"/>
              </a:ext>
            </a:extLst>
          </p:cNvPr>
          <p:cNvSpPr/>
          <p:nvPr/>
        </p:nvSpPr>
        <p:spPr>
          <a:xfrm>
            <a:off x="3048718" y="5106380"/>
            <a:ext cx="6094562" cy="923331"/>
          </a:xfrm>
          <a:prstGeom prst="foldedCorne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ction Button: Get Information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9B23481-F3C3-BBE0-4EAD-FAAECBD3C4C1}"/>
              </a:ext>
            </a:extLst>
          </p:cNvPr>
          <p:cNvSpPr/>
          <p:nvPr/>
        </p:nvSpPr>
        <p:spPr>
          <a:xfrm>
            <a:off x="8780107" y="5103940"/>
            <a:ext cx="363178" cy="363178"/>
          </a:xfrm>
          <a:prstGeom prst="actionButtonInformati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6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Noto Sans CJK SC</vt:lpstr>
      <vt:lpstr>Noto Serif CJK SC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S.K. Bi</dc:creator>
  <cp:lastModifiedBy>S.K. Bi</cp:lastModifiedBy>
  <cp:revision>4</cp:revision>
  <dcterms:created xsi:type="dcterms:W3CDTF">2025-12-14T14:15:46Z</dcterms:created>
  <dcterms:modified xsi:type="dcterms:W3CDTF">2025-12-14T14:26:51Z</dcterms:modified>
</cp:coreProperties>
</file>