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4B075-FB9F-6D0D-0CEA-A37934B61F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0DAEBE-71C3-8974-D7F6-86901E7EF1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0C0F28-284F-E605-7580-93A9D8502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CFF49-81E2-E515-1BA3-E19A06AA9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52E0C-AA0B-2278-2AC6-BAC547CF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54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66AF1-3971-EF44-A6CE-6A84F92B8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454CC-EE32-BD8D-6C71-8DB9D19BFB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BB46F-C26F-35BD-F13C-2D766BE89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CE2DE-63B3-E032-B912-04891C142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3994B-B497-8AE8-1627-D5509A038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35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5431A-319D-EED5-EF44-725EF4F10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797BF3-30CE-D3EF-100B-B1D4C352B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8B0A0-1274-5FA9-E081-AE8CB1E50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73D9B-A4B5-BFD3-94A1-C4AA45A66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34DCA-FE65-5387-2E66-96CC1DF61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337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DB04B-49DA-DC7D-24D4-7197FC4A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957D9-A27E-6CA0-C49D-EB94AF5890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BD1CC-C923-071E-CDA6-52CF4B6BC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4C5B98-F71F-DCAB-7FC1-00C2C25BD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CFF812-2EF0-AAD1-CD34-B84BA084D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63E09-1F11-B9DE-6397-F50B4789B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94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3A800-3A32-E87B-CE70-D216EACD9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BB434-2FAE-C273-04F7-D982E43B9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557C3F-C2B9-DFC4-C4B7-24D33806BD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FD46CA-091A-80B9-F258-034727E70F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D7606-F1A2-6AA9-14A9-64D3FB45D9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CB64BD-ABE4-ACE5-C443-1DCD2AB56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7B07D9-39CE-6BC1-B9A5-D3D28C90E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FE0B4C-766C-7161-E3CD-EC0E8E7DD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727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87177-E010-0A3A-B971-C7F422DCC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43E336-E7FB-073B-5541-51DF89133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05B998-F199-AFC9-E6BE-1BEB9ED67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AB682-4D1C-477F-7B45-492220161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866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FA6EEA-CABE-3403-4B67-033680A4B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3C041-03E2-F096-963B-A4B547FBB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0240-92D7-866B-66BC-E5AC16CAB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242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5140A-5AC5-35F6-9067-CFCFCEF74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B8211-B93C-FDAD-2ECC-132D8041E8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15931C-EE13-E6D1-F801-7DEF8A41F7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6CCE4F-9115-0EB0-6375-0846F4348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55DF16-3440-1A62-109E-1E544B7C4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A4E312-6E01-CD93-398C-9986850D0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317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3CB6B-C513-3BA0-EB57-8621D2AB9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D0CE1C-00A8-D24E-5462-66D673C280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46BB53-05C4-9368-48C6-FE54D29AE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B76A6C-52A1-DFB0-20E7-C71FAB125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201A7-A8C6-489C-A29D-0CF79BA84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ACCF9-E4CB-6254-DD4D-EADDD0AC3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99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2CD3F-D2C9-776A-1C48-B2498B774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FB168-A6D3-15B7-19BC-4FED556279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157CB-4C16-3162-F73C-1447FDFE0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BBCD3-D12C-271B-A3CE-D1AFE9129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5FDCDA-F41B-2D31-DD85-0B9EB81EB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19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2A1FF0-F053-8549-B8A3-D617B492FF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8D9690-AE0C-5FA7-A3CA-4916F9DF5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CC455-610D-2101-55C5-3C13D642D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3D984-CCD6-6935-C8D9-1CCA6F1B0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68D54B-87A0-9C78-FE64-3568AA027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805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448275-CE92-3B24-66CC-369D4778F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F9D305-6CDB-25BE-F326-5E202E282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FE297-F7D5-B14E-65A0-F5532F3CD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666E79-8D54-4DA0-9DCB-90C5DC44CB0C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8015C-E3BD-A8CC-8588-556FA3CCC4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27F77-3A7C-939C-08E5-C71909CF97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9129BA-2276-4F8B-8795-39EB4DF0C2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57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croll: Vertical 4">
            <a:extLst>
              <a:ext uri="{FF2B5EF4-FFF2-40B4-BE49-F238E27FC236}">
                <a16:creationId xmlns:a16="http://schemas.microsoft.com/office/drawing/2014/main" id="{1B422C87-005E-1D8E-E209-21B9EE71990E}"/>
              </a:ext>
            </a:extLst>
          </p:cNvPr>
          <p:cNvSpPr/>
          <p:nvPr/>
        </p:nvSpPr>
        <p:spPr>
          <a:xfrm>
            <a:off x="0" y="314007"/>
            <a:ext cx="12192000" cy="6229979"/>
          </a:xfrm>
          <a:prstGeom prst="verticalScroll">
            <a:avLst>
              <a:gd name="adj" fmla="val 7100"/>
            </a:avLst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Noto Serif CJK SC" panose="02020200000000000000" pitchFamily="18" charset="-128"/>
              <a:ea typeface="Noto Serif CJK SC" panose="02020200000000000000" pitchFamily="18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A15B77-5C1C-5DFE-67C9-7FC39482C9FA}"/>
              </a:ext>
            </a:extLst>
          </p:cNvPr>
          <p:cNvSpPr txBox="1"/>
          <p:nvPr/>
        </p:nvSpPr>
        <p:spPr>
          <a:xfrm>
            <a:off x="796502" y="886152"/>
            <a:ext cx="10598990" cy="508568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sz="3200" b="1" dirty="0">
                <a:latin typeface="Noto Sans CJK SC" panose="020B0200000000000000" pitchFamily="34" charset="-128"/>
                <a:ea typeface="Noto Sans CJK SC" panose="020B0200000000000000" pitchFamily="34" charset="-128"/>
              </a:rPr>
              <a:t>问题清单</a:t>
            </a:r>
            <a:endParaRPr lang="en-US" altLang="zh-CN" sz="3200" b="1" dirty="0">
              <a:latin typeface="Noto Sans CJK SC" panose="020B0200000000000000" pitchFamily="34" charset="-128"/>
              <a:ea typeface="Noto Sans CJK SC" panose="020B0200000000000000" pitchFamily="34" charset="-128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sz="2000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经济波动循环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：“一活就乱、一乱就收、一收就死、一死就放”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sz="2000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寻租与腐败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：制度租金（计划</a:t>
            </a:r>
            <a:r>
              <a:rPr lang="en-US" altLang="zh-CN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/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市场差价）驱动，代价波及经济、制度、社会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sz="2000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国企改革困境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：背负战略</a:t>
            </a:r>
            <a:r>
              <a:rPr lang="en-US" altLang="zh-CN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/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社会</a:t>
            </a:r>
            <a:r>
              <a:rPr lang="en-US" altLang="zh-CN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/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价格扭曲三重负担，缺乏自生能力，亏损与资产流失严重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sz="2000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金融体制弊端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：为补贴国企形成大量呆坏账，利率非市场化、银行非商业化、缺乏竞争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sz="2000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区域与城乡失衡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：东部先行导致差距扩大，城乡收入比</a:t>
            </a:r>
            <a:r>
              <a:rPr lang="en-US" altLang="zh-CN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1995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年达</a:t>
            </a:r>
            <a:r>
              <a:rPr lang="en-US" altLang="zh-CN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2.71:1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sz="2000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粮食供给压力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：人口增长</a:t>
            </a:r>
            <a:r>
              <a:rPr lang="en-US" altLang="zh-CN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+</a:t>
            </a:r>
            <a:r>
              <a:rPr lang="zh-CN" altLang="en-US" sz="2000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膳食升级扩大需求，政策制约（价改滞后、科研投入不足）限制供给</a:t>
            </a:r>
            <a:endParaRPr lang="en-US" altLang="zh-CN" sz="2000" dirty="0">
              <a:latin typeface="Noto Serif CJK SC" panose="02020200000000000000" pitchFamily="18" charset="-128"/>
              <a:ea typeface="Noto Serif CJK SC" panose="02020200000000000000" pitchFamily="18" charset="-128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en-US" altLang="zh-CN" sz="2000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……</a:t>
            </a:r>
            <a:endParaRPr lang="zh-CN" altLang="en-US" sz="2000" b="1" dirty="0">
              <a:latin typeface="Noto Serif CJK SC" panose="02020200000000000000" pitchFamily="18" charset="-128"/>
              <a:ea typeface="Noto Serif CJK SC" panose="02020200000000000000" pitchFamily="18" charset="-128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ABCDF5C-757D-157D-93CD-88D59DD055BB}"/>
              </a:ext>
            </a:extLst>
          </p:cNvPr>
          <p:cNvGrpSpPr/>
          <p:nvPr/>
        </p:nvGrpSpPr>
        <p:grpSpPr>
          <a:xfrm>
            <a:off x="3048716" y="5285271"/>
            <a:ext cx="6094567" cy="925771"/>
            <a:chOff x="3048718" y="5103940"/>
            <a:chExt cx="6094567" cy="92577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6D9EBEA-24E8-96E6-38E8-80C37308BE33}"/>
                </a:ext>
              </a:extLst>
            </p:cNvPr>
            <p:cNvSpPr txBox="1"/>
            <p:nvPr/>
          </p:nvSpPr>
          <p:spPr>
            <a:xfrm>
              <a:off x="3048718" y="5106381"/>
              <a:ext cx="6094562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rgbClr val="C00000"/>
                  </a:solidFill>
                  <a:latin typeface="Noto Serif CJK SC" panose="02020200000000000000" pitchFamily="18" charset="-128"/>
                  <a:ea typeface="Noto Serif CJK SC" panose="02020200000000000000" pitchFamily="18" charset="-128"/>
                </a:rPr>
                <a:t>　 传统赶超战略遗留影响 </a:t>
              </a:r>
              <a:r>
                <a:rPr lang="en-US" altLang="zh-CN" dirty="0">
                  <a:solidFill>
                    <a:srgbClr val="C00000"/>
                  </a:solidFill>
                  <a:latin typeface="Noto Serif CJK SC" panose="02020200000000000000" pitchFamily="18" charset="-128"/>
                  <a:ea typeface="Noto Serif CJK SC" panose="02020200000000000000" pitchFamily="18" charset="-128"/>
                </a:rPr>
                <a:t>+ </a:t>
              </a:r>
              <a:r>
                <a:rPr lang="zh-CN" altLang="en-US" dirty="0">
                  <a:solidFill>
                    <a:srgbClr val="C00000"/>
                  </a:solidFill>
                  <a:latin typeface="Noto Serif CJK SC" panose="02020200000000000000" pitchFamily="18" charset="-128"/>
                  <a:ea typeface="Noto Serif CJK SC" panose="02020200000000000000" pitchFamily="18" charset="-128"/>
                </a:rPr>
                <a:t>市场化改革不彻底</a:t>
              </a:r>
              <a:endParaRPr lang="en-US" altLang="zh-CN" dirty="0">
                <a:solidFill>
                  <a:srgbClr val="C00000"/>
                </a:solidFill>
                <a:latin typeface="Noto Serif CJK SC" panose="02020200000000000000" pitchFamily="18" charset="-128"/>
                <a:ea typeface="Noto Serif CJK SC" panose="02020200000000000000" pitchFamily="18" charset="-128"/>
              </a:endParaRPr>
            </a:p>
            <a:p>
              <a:r>
                <a:rPr lang="zh-CN" altLang="en-US" dirty="0">
                  <a:solidFill>
                    <a:srgbClr val="C00000"/>
                  </a:solidFill>
                  <a:latin typeface="Noto Serif CJK SC" panose="02020200000000000000" pitchFamily="18" charset="-128"/>
                  <a:ea typeface="Noto Serif CJK SC" panose="02020200000000000000" pitchFamily="18" charset="-128"/>
                </a:rPr>
                <a:t>→ 宏观政策环境扭曲（如低利率、价格双轨）</a:t>
              </a:r>
              <a:endParaRPr lang="en-US" altLang="zh-CN" dirty="0">
                <a:solidFill>
                  <a:srgbClr val="C00000"/>
                </a:solidFill>
                <a:latin typeface="Noto Serif CJK SC" panose="02020200000000000000" pitchFamily="18" charset="-128"/>
                <a:ea typeface="Noto Serif CJK SC" panose="02020200000000000000" pitchFamily="18" charset="-128"/>
              </a:endParaRPr>
            </a:p>
            <a:p>
              <a:r>
                <a:rPr lang="zh-CN" altLang="en-US" dirty="0">
                  <a:solidFill>
                    <a:srgbClr val="C00000"/>
                  </a:solidFill>
                  <a:latin typeface="Noto Serif CJK SC" panose="02020200000000000000" pitchFamily="18" charset="-128"/>
                  <a:ea typeface="Noto Serif CJK SC" panose="02020200000000000000" pitchFamily="18" charset="-128"/>
                </a:rPr>
                <a:t>→ 国企缺乏自生能力成为矛盾核心，衍生各类连锁问题</a:t>
              </a:r>
              <a:endParaRPr lang="en-US" dirty="0">
                <a:solidFill>
                  <a:srgbClr val="C00000"/>
                </a:solidFill>
                <a:latin typeface="Noto Serif CJK SC" panose="02020200000000000000" pitchFamily="18" charset="-128"/>
                <a:ea typeface="Noto Serif CJK SC" panose="02020200000000000000" pitchFamily="18" charset="-128"/>
              </a:endParaRPr>
            </a:p>
          </p:txBody>
        </p:sp>
        <p:sp>
          <p:nvSpPr>
            <p:cNvPr id="11" name="Rectangle: Folded Corner 10">
              <a:extLst>
                <a:ext uri="{FF2B5EF4-FFF2-40B4-BE49-F238E27FC236}">
                  <a16:creationId xmlns:a16="http://schemas.microsoft.com/office/drawing/2014/main" id="{8D108FB4-CF77-BDC6-04B6-F713D98536BD}"/>
                </a:ext>
              </a:extLst>
            </p:cNvPr>
            <p:cNvSpPr/>
            <p:nvPr/>
          </p:nvSpPr>
          <p:spPr>
            <a:xfrm>
              <a:off x="3048718" y="5106380"/>
              <a:ext cx="6094562" cy="923331"/>
            </a:xfrm>
            <a:prstGeom prst="foldedCorner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ction Button: Get Information 12">
              <a:hlinkClick r:id="" action="ppaction://noaction" highlightClick="1"/>
              <a:extLst>
                <a:ext uri="{FF2B5EF4-FFF2-40B4-BE49-F238E27FC236}">
                  <a16:creationId xmlns:a16="http://schemas.microsoft.com/office/drawing/2014/main" id="{C9B23481-F3C3-BBE0-4EAD-FAAECBD3C4C1}"/>
                </a:ext>
              </a:extLst>
            </p:cNvPr>
            <p:cNvSpPr/>
            <p:nvPr/>
          </p:nvSpPr>
          <p:spPr>
            <a:xfrm>
              <a:off x="8780107" y="5103940"/>
              <a:ext cx="363178" cy="363178"/>
            </a:xfrm>
            <a:prstGeom prst="actionButtonInformation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89560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176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Noto Sans CJK SC</vt:lpstr>
      <vt:lpstr>Noto Serif CJK SC</vt:lpstr>
      <vt:lpstr>Aptos</vt:lpstr>
      <vt:lpstr>Aptos Display</vt:lpstr>
      <vt:lpstr>Arial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S.K. Bi</dc:creator>
  <cp:lastModifiedBy>S.K. Bi</cp:lastModifiedBy>
  <cp:revision>6</cp:revision>
  <dcterms:created xsi:type="dcterms:W3CDTF">2025-12-14T14:15:46Z</dcterms:created>
  <dcterms:modified xsi:type="dcterms:W3CDTF">2025-12-18T01:52:59Z</dcterms:modified>
</cp:coreProperties>
</file>