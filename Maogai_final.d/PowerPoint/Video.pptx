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5F"/>
    <a:srgbClr val="0B69DB"/>
    <a:srgbClr val="4196FF"/>
    <a:srgbClr val="0550AB"/>
    <a:srgbClr val="0751B0"/>
    <a:srgbClr val="CAD7E8"/>
    <a:srgbClr val="F5F8FB"/>
    <a:srgbClr val="FFB53C"/>
    <a:srgbClr val="FED25D"/>
    <a:srgbClr val="1A4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bg1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1978</a:t>
            </a:r>
            <a:r>
              <a:rPr lang="zh-CN" dirty="0">
                <a:solidFill>
                  <a:schemeClr val="bg1"/>
                </a:solidFill>
              </a:rPr>
              <a:t>年各部门在国民收入中的占比</a:t>
            </a:r>
            <a:r>
              <a:rPr lang="zh-CN" altLang="en-US" dirty="0">
                <a:solidFill>
                  <a:schemeClr val="bg1"/>
                </a:solidFill>
              </a:rPr>
              <a:t>情况</a:t>
            </a:r>
            <a:endParaRPr lang="zh-CN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bg1"/>
              </a:solidFill>
              <a:latin typeface="Noto Sans CJK SC" panose="020B0200000000000000" pitchFamily="34" charset="-128"/>
              <a:ea typeface="Noto Sans CJK SC" panose="020B0200000000000000" pitchFamily="34" charset="-128"/>
              <a:cs typeface="+mn-cs"/>
            </a:defRPr>
          </a:pPr>
          <a:endParaRPr lang="en-US"/>
        </a:p>
      </c:txPr>
    </c:title>
    <c:autoTitleDeleted val="0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1978年各部门在国民收入份额中的占比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C428-49BD-8322-AD893922031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C428-49BD-8322-AD8939220318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428-49BD-8322-AD893922031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428-49BD-8322-AD893922031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C428-49BD-8322-AD8939220318}"/>
              </c:ext>
            </c:extLst>
          </c:dPt>
          <c:dPt>
            <c:idx val="5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428-49BD-8322-AD8939220318}"/>
              </c:ext>
            </c:extLst>
          </c:dPt>
          <c:dLbls>
            <c:dLbl>
              <c:idx val="0"/>
              <c:layout>
                <c:manualLayout>
                  <c:x val="-9.9520936549105932E-2"/>
                  <c:y val="-0.15994438469269279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428-49BD-8322-AD8939220318}"/>
                </c:ext>
              </c:extLst>
            </c:dLbl>
            <c:dLbl>
              <c:idx val="1"/>
              <c:layout>
                <c:manualLayout>
                  <c:x val="0.12084685152391435"/>
                  <c:y val="4.2651835918051287E-2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428-49BD-8322-AD8939220318}"/>
                </c:ext>
              </c:extLst>
            </c:dLbl>
            <c:dLbl>
              <c:idx val="2"/>
              <c:layout>
                <c:manualLayout>
                  <c:x val="-0.11729253236144627"/>
                  <c:y val="0.16527586418244913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28-49BD-8322-AD8939220318}"/>
                </c:ext>
              </c:extLst>
            </c:dLbl>
            <c:dLbl>
              <c:idx val="3"/>
              <c:layout>
                <c:manualLayout>
                  <c:x val="-0.1119610536177443"/>
                  <c:y val="-2.6657397448782115E-2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428-49BD-8322-AD8939220318}"/>
                </c:ext>
              </c:extLst>
            </c:dLbl>
            <c:dLbl>
              <c:idx val="4"/>
              <c:layout>
                <c:manualLayout>
                  <c:x val="-0.1119610536177443"/>
                  <c:y val="2.6657397448781135E-3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428-49BD-8322-AD893922031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428-49BD-8322-AD8939220318}"/>
                </c:ext>
              </c:extLst>
            </c:dLbl>
            <c:spPr>
              <a:gradFill flip="none" rotWithShape="1">
                <a:gsLst>
                  <a:gs pos="0">
                    <a:schemeClr val="bg1"/>
                  </a:gs>
                  <a:gs pos="50000">
                    <a:srgbClr val="FED866">
                      <a:lumMod val="10000"/>
                      <a:lumOff val="90000"/>
                      <a:alpha val="75000"/>
                    </a:srgbClr>
                  </a:gs>
                  <a:gs pos="99000">
                    <a:schemeClr val="bg1">
                      <a:shade val="100000"/>
                      <a:satMod val="115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第一产业</c:v>
                </c:pt>
                <c:pt idx="1">
                  <c:v>第二产业（工业、建筑业）</c:v>
                </c:pt>
                <c:pt idx="2">
                  <c:v>第三产业（除下面2类）：</c:v>
                </c:pt>
                <c:pt idx="3">
                  <c:v>交通、运输、仓储、邮电、通信</c:v>
                </c:pt>
                <c:pt idx="4">
                  <c:v>批发、零售、贸易、餐饮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1018.4</c:v>
                </c:pt>
                <c:pt idx="1">
                  <c:v>1745.2</c:v>
                </c:pt>
                <c:pt idx="2">
                  <c:v>860.5</c:v>
                </c:pt>
                <c:pt idx="3">
                  <c:v>172.8</c:v>
                </c:pt>
                <c:pt idx="4">
                  <c:v>265.5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28-49BD-8322-AD8939220318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Noto Sans CJK SC" panose="020B0200000000000000" pitchFamily="34" charset="-128"/>
          <a:ea typeface="Noto Sans CJK SC" panose="020B0200000000000000" pitchFamily="34" charset="-128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bg1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1997</a:t>
            </a:r>
            <a:r>
              <a:rPr lang="zh-CN" dirty="0">
                <a:solidFill>
                  <a:schemeClr val="bg1"/>
                </a:solidFill>
              </a:rPr>
              <a:t>年各部门在国民收入中的占比</a:t>
            </a:r>
            <a:r>
              <a:rPr lang="zh-CN" altLang="en-US" dirty="0">
                <a:solidFill>
                  <a:schemeClr val="bg1"/>
                </a:solidFill>
              </a:rPr>
              <a:t>情况</a:t>
            </a:r>
            <a:endParaRPr lang="zh-CN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bg1"/>
              </a:solidFill>
              <a:latin typeface="Noto Sans CJK SC" panose="020B0200000000000000" pitchFamily="34" charset="-128"/>
              <a:ea typeface="Noto Sans CJK SC" panose="020B0200000000000000" pitchFamily="34" charset="-128"/>
              <a:cs typeface="+mn-cs"/>
            </a:defRPr>
          </a:pPr>
          <a:endParaRPr lang="en-US"/>
        </a:p>
      </c:txPr>
    </c:title>
    <c:autoTitleDeleted val="0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1978年各部门在国民收入份额中的占比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FAE-435F-BA99-4168342BCED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FAE-435F-BA99-4168342BCED0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FAE-435F-BA99-4168342BCED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FAE-435F-BA99-4168342BCED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FAE-435F-BA99-4168342BCED0}"/>
              </c:ext>
            </c:extLst>
          </c:dPt>
          <c:dPt>
            <c:idx val="5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CFAE-435F-BA99-4168342BCED0}"/>
              </c:ext>
            </c:extLst>
          </c:dPt>
          <c:dLbls>
            <c:dLbl>
              <c:idx val="0"/>
              <c:layout>
                <c:manualLayout>
                  <c:x val="-9.9520936549105932E-2"/>
                  <c:y val="-0.15994438469269279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AE-435F-BA99-4168342BCED0}"/>
                </c:ext>
              </c:extLst>
            </c:dLbl>
            <c:dLbl>
              <c:idx val="1"/>
              <c:layout>
                <c:manualLayout>
                  <c:x val="0.12084685152391435"/>
                  <c:y val="4.2651835918051287E-2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AE-435F-BA99-4168342BCED0}"/>
                </c:ext>
              </c:extLst>
            </c:dLbl>
            <c:dLbl>
              <c:idx val="2"/>
              <c:layout>
                <c:manualLayout>
                  <c:x val="-0.11729253236144627"/>
                  <c:y val="0.16527586418244913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FAE-435F-BA99-4168342BCED0}"/>
                </c:ext>
              </c:extLst>
            </c:dLbl>
            <c:dLbl>
              <c:idx val="3"/>
              <c:layout>
                <c:manualLayout>
                  <c:x val="-0.1119610536177443"/>
                  <c:y val="-2.6657397448782115E-2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FAE-435F-BA99-4168342BCED0}"/>
                </c:ext>
              </c:extLst>
            </c:dLbl>
            <c:dLbl>
              <c:idx val="4"/>
              <c:layout>
                <c:manualLayout>
                  <c:x val="-0.1119610536177443"/>
                  <c:y val="2.6657397448781135E-3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FAE-435F-BA99-4168342BCED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FAE-435F-BA99-4168342BCED0}"/>
                </c:ext>
              </c:extLst>
            </c:dLbl>
            <c:spPr>
              <a:gradFill flip="none" rotWithShape="1">
                <a:gsLst>
                  <a:gs pos="0">
                    <a:schemeClr val="bg1"/>
                  </a:gs>
                  <a:gs pos="50000">
                    <a:srgbClr val="FED866">
                      <a:lumMod val="10000"/>
                      <a:lumOff val="90000"/>
                      <a:alpha val="75000"/>
                    </a:srgbClr>
                  </a:gs>
                  <a:gs pos="99000">
                    <a:schemeClr val="bg1">
                      <a:shade val="100000"/>
                      <a:satMod val="115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第一产业</c:v>
                </c:pt>
                <c:pt idx="1">
                  <c:v>第二产业（工业、建筑业）</c:v>
                </c:pt>
                <c:pt idx="2">
                  <c:v>第三产业（除下面2类）：</c:v>
                </c:pt>
                <c:pt idx="3">
                  <c:v>交通、运输、仓储、邮电、通信</c:v>
                </c:pt>
                <c:pt idx="4">
                  <c:v>批发、零售、贸易、餐饮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14211.2</c:v>
                </c:pt>
                <c:pt idx="1">
                  <c:v>37222.699999999997</c:v>
                </c:pt>
                <c:pt idx="2">
                  <c:v>23028.7</c:v>
                </c:pt>
                <c:pt idx="3">
                  <c:v>3797.2</c:v>
                </c:pt>
                <c:pt idx="4">
                  <c:v>6159.9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FAE-435F-BA99-4168342BCED0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Noto Sans CJK SC" panose="020B0200000000000000" pitchFamily="34" charset="-128"/>
          <a:ea typeface="Noto Sans CJK SC" panose="020B0200000000000000" pitchFamily="34" charset="-128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bg1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1978</a:t>
            </a:r>
            <a:r>
              <a:rPr lang="zh-CN" dirty="0">
                <a:solidFill>
                  <a:schemeClr val="bg1"/>
                </a:solidFill>
              </a:rPr>
              <a:t>年各部门在国民收入中的占比</a:t>
            </a:r>
            <a:r>
              <a:rPr lang="zh-CN" altLang="en-US" dirty="0">
                <a:solidFill>
                  <a:schemeClr val="bg1"/>
                </a:solidFill>
              </a:rPr>
              <a:t>情况</a:t>
            </a:r>
            <a:endParaRPr lang="zh-CN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bg1"/>
              </a:solidFill>
              <a:latin typeface="Noto Sans CJK SC" panose="020B0200000000000000" pitchFamily="34" charset="-128"/>
              <a:ea typeface="Noto Sans CJK SC" panose="020B0200000000000000" pitchFamily="34" charset="-128"/>
              <a:cs typeface="+mn-cs"/>
            </a:defRPr>
          </a:pPr>
          <a:endParaRPr lang="en-US"/>
        </a:p>
      </c:txPr>
    </c:title>
    <c:autoTitleDeleted val="0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1978年各部门在国民收入份额中的占比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C428-49BD-8322-AD893922031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C428-49BD-8322-AD8939220318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428-49BD-8322-AD893922031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428-49BD-8322-AD893922031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C428-49BD-8322-AD8939220318}"/>
              </c:ext>
            </c:extLst>
          </c:dPt>
          <c:dPt>
            <c:idx val="5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428-49BD-8322-AD8939220318}"/>
              </c:ext>
            </c:extLst>
          </c:dPt>
          <c:dLbls>
            <c:dLbl>
              <c:idx val="0"/>
              <c:layout>
                <c:manualLayout>
                  <c:x val="-9.9520936549105932E-2"/>
                  <c:y val="-0.15994438469269279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428-49BD-8322-AD8939220318}"/>
                </c:ext>
              </c:extLst>
            </c:dLbl>
            <c:dLbl>
              <c:idx val="1"/>
              <c:layout>
                <c:manualLayout>
                  <c:x val="0.12084685152391435"/>
                  <c:y val="4.2651835918051287E-2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428-49BD-8322-AD8939220318}"/>
                </c:ext>
              </c:extLst>
            </c:dLbl>
            <c:dLbl>
              <c:idx val="2"/>
              <c:layout>
                <c:manualLayout>
                  <c:x val="-0.11729253236144627"/>
                  <c:y val="0.16527586418244913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28-49BD-8322-AD8939220318}"/>
                </c:ext>
              </c:extLst>
            </c:dLbl>
            <c:dLbl>
              <c:idx val="3"/>
              <c:layout>
                <c:manualLayout>
                  <c:x val="-0.1119610536177443"/>
                  <c:y val="-2.6657397448782115E-2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428-49BD-8322-AD8939220318}"/>
                </c:ext>
              </c:extLst>
            </c:dLbl>
            <c:dLbl>
              <c:idx val="4"/>
              <c:layout>
                <c:manualLayout>
                  <c:x val="-0.1119610536177443"/>
                  <c:y val="2.6657397448781135E-3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428-49BD-8322-AD893922031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428-49BD-8322-AD8939220318}"/>
                </c:ext>
              </c:extLst>
            </c:dLbl>
            <c:spPr>
              <a:gradFill flip="none" rotWithShape="1">
                <a:gsLst>
                  <a:gs pos="0">
                    <a:schemeClr val="bg1"/>
                  </a:gs>
                  <a:gs pos="50000">
                    <a:srgbClr val="FED866">
                      <a:lumMod val="10000"/>
                      <a:lumOff val="90000"/>
                      <a:alpha val="75000"/>
                    </a:srgbClr>
                  </a:gs>
                  <a:gs pos="99000">
                    <a:schemeClr val="bg1">
                      <a:shade val="100000"/>
                      <a:satMod val="115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第一产业</c:v>
                </c:pt>
                <c:pt idx="1">
                  <c:v>第二产业（工业、建筑业）</c:v>
                </c:pt>
                <c:pt idx="2">
                  <c:v>第三产业（除下面2类）：</c:v>
                </c:pt>
                <c:pt idx="3">
                  <c:v>交通、运输、仓储、邮电、通信</c:v>
                </c:pt>
                <c:pt idx="4">
                  <c:v>批发、零售、贸易、餐饮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1018.4</c:v>
                </c:pt>
                <c:pt idx="1">
                  <c:v>1745.2</c:v>
                </c:pt>
                <c:pt idx="2">
                  <c:v>860.5</c:v>
                </c:pt>
                <c:pt idx="3">
                  <c:v>172.8</c:v>
                </c:pt>
                <c:pt idx="4">
                  <c:v>265.5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28-49BD-8322-AD8939220318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Noto Sans CJK SC" panose="020B0200000000000000" pitchFamily="34" charset="-128"/>
          <a:ea typeface="Noto Sans CJK SC" panose="020B0200000000000000" pitchFamily="34" charset="-128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bg1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1997</a:t>
            </a:r>
            <a:r>
              <a:rPr lang="zh-CN" dirty="0">
                <a:solidFill>
                  <a:schemeClr val="bg1"/>
                </a:solidFill>
              </a:rPr>
              <a:t>年各部门在国民收入中的占比</a:t>
            </a:r>
            <a:r>
              <a:rPr lang="zh-CN" altLang="en-US" dirty="0">
                <a:solidFill>
                  <a:schemeClr val="bg1"/>
                </a:solidFill>
              </a:rPr>
              <a:t>情况</a:t>
            </a:r>
            <a:endParaRPr lang="zh-CN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bg1"/>
              </a:solidFill>
              <a:latin typeface="Noto Sans CJK SC" panose="020B0200000000000000" pitchFamily="34" charset="-128"/>
              <a:ea typeface="Noto Sans CJK SC" panose="020B0200000000000000" pitchFamily="34" charset="-128"/>
              <a:cs typeface="+mn-cs"/>
            </a:defRPr>
          </a:pPr>
          <a:endParaRPr lang="en-US"/>
        </a:p>
      </c:txPr>
    </c:title>
    <c:autoTitleDeleted val="0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1978年各部门在国民收入份额中的占比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FAE-435F-BA99-4168342BCED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FAE-435F-BA99-4168342BCED0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FAE-435F-BA99-4168342BCED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FAE-435F-BA99-4168342BCED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FAE-435F-BA99-4168342BCED0}"/>
              </c:ext>
            </c:extLst>
          </c:dPt>
          <c:dPt>
            <c:idx val="5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CFAE-435F-BA99-4168342BCED0}"/>
              </c:ext>
            </c:extLst>
          </c:dPt>
          <c:dLbls>
            <c:dLbl>
              <c:idx val="0"/>
              <c:layout>
                <c:manualLayout>
                  <c:x val="-9.9520936549105932E-2"/>
                  <c:y val="-0.15994438469269279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AE-435F-BA99-4168342BCED0}"/>
                </c:ext>
              </c:extLst>
            </c:dLbl>
            <c:dLbl>
              <c:idx val="1"/>
              <c:layout>
                <c:manualLayout>
                  <c:x val="0.12084685152391435"/>
                  <c:y val="4.2651835918051287E-2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AE-435F-BA99-4168342BCED0}"/>
                </c:ext>
              </c:extLst>
            </c:dLbl>
            <c:dLbl>
              <c:idx val="2"/>
              <c:layout>
                <c:manualLayout>
                  <c:x val="-0.11729253236144627"/>
                  <c:y val="0.16527586418244913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FAE-435F-BA99-4168342BCED0}"/>
                </c:ext>
              </c:extLst>
            </c:dLbl>
            <c:dLbl>
              <c:idx val="3"/>
              <c:layout>
                <c:manualLayout>
                  <c:x val="-0.1119610536177443"/>
                  <c:y val="-2.6657397448782115E-2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FAE-435F-BA99-4168342BCED0}"/>
                </c:ext>
              </c:extLst>
            </c:dLbl>
            <c:dLbl>
              <c:idx val="4"/>
              <c:layout>
                <c:manualLayout>
                  <c:x val="-0.1119610536177443"/>
                  <c:y val="2.6657397448781135E-3"/>
                </c:manualLayout>
              </c:layout>
              <c:spPr>
                <a:gradFill flip="none" rotWithShape="1">
                  <a:gsLst>
                    <a:gs pos="0">
                      <a:schemeClr val="bg1"/>
                    </a:gs>
                    <a:gs pos="50000">
                      <a:srgbClr val="FED866">
                        <a:lumMod val="10000"/>
                        <a:lumOff val="90000"/>
                        <a:alpha val="75000"/>
                      </a:srgbClr>
                    </a:gs>
                    <a:gs pos="99000">
                      <a:schemeClr val="bg1">
                        <a:shade val="100000"/>
                        <a:satMod val="115000"/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Noto Sans CJK SC" panose="020B0200000000000000" pitchFamily="34" charset="-128"/>
                      <a:ea typeface="Noto Sans CJK SC" panose="020B0200000000000000" pitchFamily="34" charset="-128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FAE-435F-BA99-4168342BCED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FAE-435F-BA99-4168342BCED0}"/>
                </c:ext>
              </c:extLst>
            </c:dLbl>
            <c:spPr>
              <a:gradFill flip="none" rotWithShape="1">
                <a:gsLst>
                  <a:gs pos="0">
                    <a:schemeClr val="bg1"/>
                  </a:gs>
                  <a:gs pos="50000">
                    <a:srgbClr val="FED866">
                      <a:lumMod val="10000"/>
                      <a:lumOff val="90000"/>
                      <a:alpha val="75000"/>
                    </a:srgbClr>
                  </a:gs>
                  <a:gs pos="99000">
                    <a:schemeClr val="bg1">
                      <a:shade val="100000"/>
                      <a:satMod val="115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第一产业</c:v>
                </c:pt>
                <c:pt idx="1">
                  <c:v>第二产业（工业、建筑业）</c:v>
                </c:pt>
                <c:pt idx="2">
                  <c:v>第三产业（除下面2类）：</c:v>
                </c:pt>
                <c:pt idx="3">
                  <c:v>交通、运输、仓储、邮电、通信</c:v>
                </c:pt>
                <c:pt idx="4">
                  <c:v>批发、零售、贸易、餐饮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14211.2</c:v>
                </c:pt>
                <c:pt idx="1">
                  <c:v>37222.699999999997</c:v>
                </c:pt>
                <c:pt idx="2">
                  <c:v>23028.7</c:v>
                </c:pt>
                <c:pt idx="3">
                  <c:v>3797.2</c:v>
                </c:pt>
                <c:pt idx="4">
                  <c:v>6159.9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FAE-435F-BA99-4168342BCED0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Noto Sans CJK SC" panose="020B0200000000000000" pitchFamily="34" charset="-128"/>
          <a:ea typeface="Noto Sans CJK SC" panose="020B0200000000000000" pitchFamily="34" charset="-128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农业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Noto Sans CJK SC" panose="020B0200000000000000" pitchFamily="34" charset="-128"/>
                    <a:ea typeface="Noto Sans CJK SC" panose="020B0200000000000000" pitchFamily="34" charset="-128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0.00%</c:formatCode>
                <c:ptCount val="1"/>
                <c:pt idx="0">
                  <c:v>0.73299999999999998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DF-47BB-A2A6-9F62FCFC85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lnSpc>
                    <a:spcPct val="60000"/>
                  </a:lnSpc>
                  <a:defRPr sz="1197" b="0" i="0" u="none" strike="noStrike" kern="1200" baseline="0">
                    <a:solidFill>
                      <a:schemeClr val="lt1"/>
                    </a:solidFill>
                    <a:latin typeface="Noto Sans CJK SC" panose="020B0200000000000000" pitchFamily="34" charset="-128"/>
                    <a:ea typeface="Noto Sans CJK SC" panose="020B0200000000000000" pitchFamily="34" charset="-128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0.00%</c:formatCode>
                <c:ptCount val="1"/>
                <c:pt idx="0">
                  <c:v>0.26700000000000002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DF-47BB-A2A6-9F62FCFC85A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196293152"/>
        <c:axId val="1196294112"/>
      </c:barChart>
      <c:catAx>
        <c:axId val="1196293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defRPr>
            </a:pPr>
            <a:endParaRPr lang="en-US"/>
          </a:p>
        </c:txPr>
        <c:crossAx val="1196294112"/>
        <c:crosses val="autoZero"/>
        <c:auto val="1"/>
        <c:lblAlgn val="ctr"/>
        <c:lblOffset val="100"/>
        <c:noMultiLvlLbl val="0"/>
      </c:catAx>
      <c:valAx>
        <c:axId val="119629411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96293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CJK SC" panose="020B0200000000000000" pitchFamily="34" charset="-128"/>
              <a:ea typeface="Noto Sans CJK SC" panose="020B0200000000000000" pitchFamily="34" charset="-128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Noto Sans CJK SC" panose="020B0200000000000000" pitchFamily="34" charset="-128"/>
          <a:ea typeface="Noto Sans CJK SC" panose="020B0200000000000000" pitchFamily="34" charset="-128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农业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Noto Sans CJK SC" panose="020B0200000000000000" pitchFamily="34" charset="-128"/>
                    <a:ea typeface="Noto Sans CJK SC" panose="020B0200000000000000" pitchFamily="34" charset="-128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0.00%</c:formatCode>
                <c:ptCount val="1"/>
                <c:pt idx="0">
                  <c:v>0.499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4C-4D66-BF4E-9F388E5FF0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Noto Sans CJK SC" panose="020B0200000000000000" pitchFamily="34" charset="-128"/>
                    <a:ea typeface="Noto Sans CJK SC" panose="020B0200000000000000" pitchFamily="34" charset="-128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0.00%</c:formatCode>
                <c:ptCount val="1"/>
                <c:pt idx="0">
                  <c:v>0.501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4C-4D66-BF4E-9F388E5FF0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196293152"/>
        <c:axId val="1196294112"/>
      </c:barChart>
      <c:catAx>
        <c:axId val="1196293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defRPr>
            </a:pPr>
            <a:endParaRPr lang="en-US"/>
          </a:p>
        </c:txPr>
        <c:crossAx val="1196294112"/>
        <c:crosses val="autoZero"/>
        <c:auto val="1"/>
        <c:lblAlgn val="ctr"/>
        <c:lblOffset val="100"/>
        <c:noMultiLvlLbl val="0"/>
      </c:catAx>
      <c:valAx>
        <c:axId val="119629411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96293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CJK SC" panose="020B0200000000000000" pitchFamily="34" charset="-128"/>
              <a:ea typeface="Noto Sans CJK SC" panose="020B0200000000000000" pitchFamily="34" charset="-128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Noto Sans CJK SC" panose="020B0200000000000000" pitchFamily="34" charset="-128"/>
          <a:ea typeface="Noto Sans CJK SC" panose="020B0200000000000000" pitchFamily="34" charset="-128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98DD4-7C3A-98DD-5669-DA02C2B16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76BD1-5927-F746-3C19-C0647E139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4B46-8847-D0EE-ADCE-EDD6353F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9A9C0-77B0-BC46-264F-5C71268C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B0974-77F8-3F48-C213-125C5EED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9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C5C58-544B-5B47-4B24-368B63C5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6096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8059E-A1DD-DD61-91C6-2D33FF49E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491"/>
            <a:ext cx="10515600" cy="4710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8EA5A-4A29-367B-6A4C-6BA385A7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E289C-5423-16BE-3F66-F00F1234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763F0-7F84-9350-0B13-61E89C22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9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BB75-F372-A087-02A1-E3641D42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F3D44-B727-EEEA-7CE8-A3CAFA309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667D5-5D7E-5A0F-4DDD-1FF7725A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6032-FDDA-4840-EBB9-FB87D77D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D471B-9B12-3C30-AD4D-5A7D0AA0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9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72BB-7737-1DD2-3625-C5636493A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3D8C1-40FA-1D9E-A37C-90FEC15A9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88443-32E6-C6A4-4AC3-B8705E1A9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16865-8EE1-8B3E-ADA0-3256CB98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8E048-058A-B009-F7D4-F2A788B9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B2E24-25CD-23F5-9C4F-D9FB88A1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42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15B7-847B-B488-10E8-403E14436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A31EA-6B3B-62E2-97A6-07B355E02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021A3-25EA-CD82-EEE9-0D93A4079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454B9-A1CE-3167-EFF8-A14092E9F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0613F-CBBE-1127-32DA-C46F9DCCF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0DD5E-F39A-9F09-1ABF-0D4C08DA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A55B9-2F73-CF35-6C6E-E483B7DD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617A7-CC2A-C163-E471-2EE2923B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38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59D7A9-6D92-695C-C431-0160A25E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22FAA-08BA-55AA-9BF0-DE3CA008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F0713-483B-9A0A-3360-FF4B86FD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9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F1A6-FEBC-7CB1-E2FB-59CBA8AB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C26AA-87E8-52F5-4722-F5CA43FE0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00444-AC8C-E555-3B1B-129AB56F1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56B25-AF89-9844-1174-D0E8418C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BDE88-D684-AF71-ED1C-8E7A56A5C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50812-673A-60BC-6117-B21AE1BB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8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B9A2-522C-3677-D6C7-F501ECA9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CF9E1-D7F3-BF42-92F5-A36BE1A94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1DEDF-DE0A-4A0F-3E2D-264B15329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1AEE-7766-16BC-27BA-70F43150B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E00C6-C6EB-9C0D-8322-2BFBBD69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9B56F-55DB-7399-B74F-80F50516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AE4D-1764-66FF-74C1-DAD0720AF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E3A88-9912-5CAC-2B22-168E849C2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94F9A-BDEC-EDB1-5A52-ECA96157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590B5-70D0-3C7C-3B09-D2AE0E34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7877A-3EC0-E35C-8DAB-F9BFD5A1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7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D5325-0F61-1879-755A-50EE2B9CB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F484D-5128-937A-75AB-5176E5889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BCD87-8A5A-BB70-7F02-73D389419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6A58-CC3C-4167-81C5-5297948C27B8}" type="datetimeFigureOut">
              <a:rPr lang="en-US" smtClean="0"/>
              <a:t>2025-12-16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31B6C-2A4C-FE6B-41E4-A0A57FDD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777BA-1C80-4DDE-D404-5997CF15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9262-662B-437A-9804-4A299833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0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FCFEC-4D8B-864F-EDF9-70E720D8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9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F929E-745B-E68E-ED89-E20942620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5940"/>
            <a:ext cx="10515600" cy="5021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C0D8-EC15-9271-732D-98A093CBB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spc="100" baseline="0">
                <a:solidFill>
                  <a:schemeClr val="bg1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defRPr>
            </a:lvl1pPr>
          </a:lstStyle>
          <a:p>
            <a:fld id="{9DC86A58-CC3C-4167-81C5-5297948C27B8}" type="datetimeFigureOut">
              <a:rPr lang="en-US" smtClean="0"/>
              <a:pPr/>
              <a:t>2025-12-16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6C8BD-745D-4E63-330A-AC15E416AE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00" baseline="0">
                <a:solidFill>
                  <a:schemeClr val="bg1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7DE86-1730-9C37-F7C7-D1303CD1B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spc="100" baseline="0">
                <a:solidFill>
                  <a:schemeClr val="bg1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defRPr>
            </a:lvl1pPr>
          </a:lstStyle>
          <a:p>
            <a:fld id="{40A19262-662B-437A-9804-4A299833FD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8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100" baseline="0">
          <a:solidFill>
            <a:schemeClr val="bg1"/>
          </a:solidFill>
          <a:latin typeface="Noto Sans CJK SC" panose="020B0200000000000000" pitchFamily="34" charset="-128"/>
          <a:ea typeface="Noto Sans CJK SC" panose="020B02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 spc="100" baseline="0">
          <a:solidFill>
            <a:schemeClr val="bg1"/>
          </a:solidFill>
          <a:latin typeface="Noto Sans CJK SC" panose="020B0200000000000000" pitchFamily="34" charset="-128"/>
          <a:ea typeface="Noto Sans CJK SC" panose="020B02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 spc="100" baseline="0">
          <a:solidFill>
            <a:schemeClr val="bg1"/>
          </a:solidFill>
          <a:latin typeface="Noto Sans CJK SC" panose="020B0200000000000000" pitchFamily="34" charset="-128"/>
          <a:ea typeface="Noto Sans CJK SC" panose="020B02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 spc="100" baseline="0">
          <a:solidFill>
            <a:schemeClr val="bg1"/>
          </a:solidFill>
          <a:latin typeface="Noto Sans CJK SC" panose="020B0200000000000000" pitchFamily="34" charset="-128"/>
          <a:ea typeface="Noto Sans CJK SC" panose="020B02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 spc="100" baseline="0">
          <a:solidFill>
            <a:schemeClr val="bg1"/>
          </a:solidFill>
          <a:latin typeface="Noto Sans CJK SC" panose="020B0200000000000000" pitchFamily="34" charset="-128"/>
          <a:ea typeface="Noto Sans CJK SC" panose="020B02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 spc="100" baseline="0">
          <a:solidFill>
            <a:schemeClr val="bg1"/>
          </a:solidFill>
          <a:latin typeface="Noto Sans CJK SC" panose="020B0200000000000000" pitchFamily="34" charset="-128"/>
          <a:ea typeface="Noto Sans CJK SC" panose="020B02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5EE4-B225-DAD3-A2E4-2AEFA236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一、经济增长成就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153B6E-6780-5F72-BCE0-EFBB26024AA5}"/>
              </a:ext>
            </a:extLst>
          </p:cNvPr>
          <p:cNvSpPr txBox="1"/>
          <p:nvPr/>
        </p:nvSpPr>
        <p:spPr>
          <a:xfrm>
            <a:off x="5375042" y="1790563"/>
            <a:ext cx="6006542" cy="1061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改革前</a:t>
            </a:r>
            <a:r>
              <a:rPr lang="en-US" altLang="zh-CN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GDP</a:t>
            </a:r>
            <a:r>
              <a:rPr lang="zh-CN" altLang="en-US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年均增长率仅为</a:t>
            </a:r>
            <a:r>
              <a:rPr lang="zh-CN" altLang="en-US" sz="3600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 </a:t>
            </a: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6.0</a:t>
            </a:r>
            <a:r>
              <a:rPr kumimoji="0" lang="zh-CN" altLang="en-US" sz="36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 </a:t>
            </a:r>
            <a:r>
              <a:rPr kumimoji="0" lang="en-US" altLang="zh-CN" sz="1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%</a:t>
            </a:r>
            <a:r>
              <a:rPr kumimoji="0" lang="zh-CN" altLang="en-US" sz="1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，</a:t>
            </a:r>
            <a:br>
              <a:rPr kumimoji="0" lang="en-US" altLang="zh-CN" sz="1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</a:br>
            <a:r>
              <a:rPr lang="zh-CN" altLang="en-US" b="1" spc="100" dirty="0">
                <a:gradFill>
                  <a:gsLst>
                    <a:gs pos="0">
                      <a:prstClr val="white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经济增长缓慢，且波动大，在“二五”时期出现负增长</a:t>
            </a:r>
            <a:endParaRPr lang="en-US" b="1" spc="100" dirty="0">
              <a:gradFill>
                <a:gsLst>
                  <a:gs pos="0">
                    <a:prstClr val="white"/>
                  </a:gs>
                  <a:gs pos="100000">
                    <a:srgbClr val="FED866">
                      <a:lumMod val="60000"/>
                      <a:lumOff val="40000"/>
                    </a:srgbClr>
                  </a:gs>
                </a:gsLst>
                <a:lin ang="5400000" scaled="1"/>
              </a:gradFill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6AFC6E44-CECF-8A46-AF23-554D730AD7D6}"/>
              </a:ext>
            </a:extLst>
          </p:cNvPr>
          <p:cNvSpPr txBox="1"/>
          <p:nvPr/>
        </p:nvSpPr>
        <p:spPr>
          <a:xfrm>
            <a:off x="4509309" y="3290423"/>
            <a:ext cx="6458819" cy="28556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reflection blurRad="6350" stA="25000" endPos="20000" dist="29997" dir="5400000" sy="-100000" algn="bl" rotWithShape="0"/>
                </a:effectLst>
                <a:latin typeface="Noto Sans CJK SC" panose="020B0200000000000000" pitchFamily="34" charset="-128"/>
                <a:ea typeface="Noto Sans CJK SC" panose="020B0200000000000000" pitchFamily="34" charset="-128"/>
              </a:rPr>
              <a:t>改革后</a:t>
            </a:r>
            <a:r>
              <a:rPr lang="en-US" altLang="zh-CN" sz="2000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reflection blurRad="6350" stA="25000" endPos="20000" dist="29997" dir="5400000" sy="-100000" algn="bl" rotWithShape="0"/>
                </a:effectLst>
                <a:latin typeface="Noto Sans CJK SC" panose="020B0200000000000000" pitchFamily="34" charset="-128"/>
                <a:ea typeface="Noto Sans CJK SC" panose="020B0200000000000000" pitchFamily="34" charset="-128"/>
              </a:rPr>
              <a:t>GDP</a:t>
            </a:r>
            <a:r>
              <a:rPr lang="zh-CN" altLang="en-US" sz="2000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reflection blurRad="6350" stA="25000" endPos="20000" dist="29997" dir="5400000" sy="-100000" algn="bl" rotWithShape="0"/>
                </a:effectLst>
                <a:latin typeface="Noto Sans CJK SC" panose="020B0200000000000000" pitchFamily="34" charset="-128"/>
                <a:ea typeface="Noto Sans CJK SC" panose="020B0200000000000000" pitchFamily="34" charset="-128"/>
              </a:rPr>
              <a:t>年均增长率达到</a:t>
            </a:r>
            <a:r>
              <a:rPr lang="zh-CN" altLang="en-US" sz="9600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reflection blurRad="6350" stA="25000" endPos="20000" dist="29997" dir="5400000" sy="-100000" algn="bl" rotWithShape="0"/>
                </a:effectLst>
                <a:latin typeface="Noto Sans CJK SC" panose="020B0200000000000000" pitchFamily="34" charset="-128"/>
                <a:ea typeface="Noto Sans CJK SC" panose="020B0200000000000000" pitchFamily="34" charset="-128"/>
              </a:rPr>
              <a:t> </a:t>
            </a:r>
            <a:r>
              <a:rPr kumimoji="0" lang="en-US" sz="72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reflection blurRad="6350" stA="25000" endPos="20000" dist="29997" dir="5400000" sy="-100000" algn="bl" rotWithShape="0"/>
                </a:effectLst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9.6</a:t>
            </a:r>
            <a:r>
              <a:rPr kumimoji="0" lang="en-US" sz="96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reflection blurRad="6350" stA="25000" endPos="20000" dist="29997" dir="5400000" sy="-100000" algn="bl" rotWithShape="0"/>
                </a:effectLst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 </a:t>
            </a:r>
            <a:r>
              <a:rPr kumimoji="0" lang="en-US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reflection blurRad="6350" stA="25000" endPos="20000" dist="29997" dir="5400000" sy="-100000" algn="bl" rotWithShape="0"/>
                </a:effectLst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%</a:t>
            </a: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，</a:t>
            </a:r>
            <a:br>
              <a:rPr kumimoji="0" lang="en-US" altLang="zh-CN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</a:b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同时，持续性稳步增强，</a:t>
            </a:r>
            <a:r>
              <a:rPr kumimoji="0" lang="en-US" altLang="zh-CN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1997</a:t>
            </a: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年达</a:t>
            </a:r>
            <a:r>
              <a:rPr kumimoji="0" lang="en-US" altLang="zh-CN" sz="2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74,722</a:t>
            </a: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亿元，</a:t>
            </a:r>
            <a:br>
              <a:rPr kumimoji="0" lang="en-US" altLang="zh-CN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</a:b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较</a:t>
            </a:r>
            <a:r>
              <a:rPr kumimoji="0" lang="en-US" altLang="zh-CN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1978</a:t>
            </a: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年的</a:t>
            </a:r>
            <a:r>
              <a:rPr kumimoji="0" lang="en-US" altLang="zh-CN" sz="2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</a:rPr>
              <a:t>3</a:t>
            </a:r>
            <a:r>
              <a:rPr lang="en-US" altLang="zh-CN" sz="2800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latin typeface="Noto Sans CJK SC" panose="020B0200000000000000" pitchFamily="34" charset="-128"/>
                <a:ea typeface="Noto Sans CJK SC" panose="020B0200000000000000" pitchFamily="34" charset="-128"/>
              </a:rPr>
              <a:t>,624</a:t>
            </a:r>
            <a:r>
              <a:rPr lang="zh-CN" altLang="en-US" sz="2000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latin typeface="Noto Sans CJK SC" panose="020B0200000000000000" pitchFamily="34" charset="-128"/>
                <a:ea typeface="Noto Sans CJK SC" panose="020B0200000000000000" pitchFamily="34" charset="-128"/>
              </a:rPr>
              <a:t>亿元</a:t>
            </a: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增长近</a:t>
            </a:r>
            <a:r>
              <a:rPr kumimoji="0" lang="en-US" altLang="zh-CN" sz="2800" b="1" i="0" u="none" strike="noStrike" kern="1200" cap="none" spc="10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rPr>
              <a:t>20</a:t>
            </a:r>
            <a:r>
              <a:rPr lang="zh-CN" altLang="en-US" sz="2000" b="1" spc="100" dirty="0">
                <a:gradFill>
                  <a:gsLst>
                    <a:gs pos="0">
                      <a:schemeClr val="bg1"/>
                    </a:gs>
                    <a:gs pos="100000">
                      <a:srgbClr val="FED866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/>
                <a:latin typeface="Noto Sans CJK SC" panose="020B0200000000000000" pitchFamily="34" charset="-128"/>
                <a:ea typeface="Noto Sans CJK SC" panose="020B0200000000000000" pitchFamily="34" charset="-128"/>
              </a:rPr>
              <a:t>倍</a:t>
            </a:r>
            <a:endParaRPr kumimoji="0" lang="en-US" sz="9600" b="1" i="0" u="none" strike="noStrike" kern="1200" cap="none" spc="100" normalizeH="0" baseline="0" noProof="0" dirty="0">
              <a:ln>
                <a:noFill/>
              </a:ln>
              <a:gradFill>
                <a:gsLst>
                  <a:gs pos="0">
                    <a:schemeClr val="bg1"/>
                  </a:gs>
                  <a:gs pos="100000">
                    <a:srgbClr val="FED866">
                      <a:lumMod val="60000"/>
                      <a:lumOff val="4000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B0FCAD6A-547E-4C6C-2D53-738AAB5917B2}"/>
              </a:ext>
            </a:extLst>
          </p:cNvPr>
          <p:cNvSpPr>
            <a:spLocks/>
          </p:cNvSpPr>
          <p:nvPr/>
        </p:nvSpPr>
        <p:spPr>
          <a:xfrm>
            <a:off x="1223872" y="1520626"/>
            <a:ext cx="3556073" cy="2195107"/>
          </a:xfrm>
          <a:prstGeom prst="upArrow">
            <a:avLst/>
          </a:prstGeom>
          <a:gradFill>
            <a:gsLst>
              <a:gs pos="0">
                <a:srgbClr val="C00000"/>
              </a:gs>
              <a:gs pos="45000">
                <a:srgbClr val="C00000">
                  <a:alpha val="75000"/>
                </a:srgbClr>
              </a:gs>
              <a:gs pos="100000">
                <a:srgbClr val="C00000">
                  <a:alpha val="0"/>
                </a:srgbClr>
              </a:gs>
            </a:gsLst>
            <a:lin ang="5400000" scaled="1"/>
          </a:gradFill>
          <a:ln>
            <a:noFill/>
          </a:ln>
          <a:scene3d>
            <a:camera prst="perspectiveContrastingLeftFacing" fov="3600000">
              <a:rot lat="21299999" lon="19799999" rev="0"/>
            </a:camera>
            <a:lightRig rig="threePt" dir="t"/>
          </a:scene3d>
          <a:sp3d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20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相较改革前</a:t>
            </a:r>
            <a:br>
              <a:rPr lang="en-US" altLang="zh-CN" sz="20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</a:br>
            <a:r>
              <a:rPr lang="zh-CN" altLang="en-US" sz="20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增长</a:t>
            </a:r>
            <a:endParaRPr lang="en-US" altLang="zh-CN" sz="2000" b="1" spc="100" dirty="0">
              <a:solidFill>
                <a:srgbClr val="FED866"/>
              </a:solidFill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  <a:p>
            <a:pPr algn="ctr">
              <a:spcBef>
                <a:spcPts val="600"/>
              </a:spcBef>
            </a:pPr>
            <a:r>
              <a:rPr lang="zh-CN" altLang="en-US" sz="20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超</a:t>
            </a:r>
            <a:r>
              <a:rPr lang="zh-CN" altLang="en-US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 </a:t>
            </a:r>
            <a:r>
              <a:rPr lang="en-US" altLang="zh-CN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50%</a:t>
            </a:r>
            <a:endParaRPr lang="en-US" sz="3200" b="1" spc="100" dirty="0">
              <a:solidFill>
                <a:srgbClr val="FED866"/>
              </a:solidFill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</p:txBody>
      </p:sp>
      <p:pic>
        <p:nvPicPr>
          <p:cNvPr id="53" name="Picture 52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B1A469AF-C7D5-C522-3092-DDD294D08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21" y="4875412"/>
            <a:ext cx="1642533" cy="923925"/>
          </a:xfrm>
          <a:prstGeom prst="rect">
            <a:avLst/>
          </a:prstGeom>
        </p:spPr>
      </p:pic>
      <p:pic>
        <p:nvPicPr>
          <p:cNvPr id="54" name="Picture 53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36A2EAD0-043D-5863-819C-435A7F205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23" y="4723011"/>
            <a:ext cx="1642533" cy="923925"/>
          </a:xfrm>
          <a:prstGeom prst="rect">
            <a:avLst/>
          </a:prstGeom>
        </p:spPr>
      </p:pic>
      <p:pic>
        <p:nvPicPr>
          <p:cNvPr id="55" name="Picture 54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A7E934B5-2FE9-D5F5-2AC9-EB8EC2B55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17" y="4565850"/>
            <a:ext cx="1642533" cy="923925"/>
          </a:xfrm>
          <a:prstGeom prst="rect">
            <a:avLst/>
          </a:prstGeom>
        </p:spPr>
      </p:pic>
      <p:pic>
        <p:nvPicPr>
          <p:cNvPr id="56" name="Picture 55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F6ED6563-3C4F-ED13-3814-2A6D9D7B2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19" y="4413449"/>
            <a:ext cx="1642533" cy="923925"/>
          </a:xfrm>
          <a:prstGeom prst="rect">
            <a:avLst/>
          </a:prstGeom>
        </p:spPr>
      </p:pic>
      <p:pic>
        <p:nvPicPr>
          <p:cNvPr id="57" name="Picture 56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3DF8E193-0D26-7B6B-0E75-27EFD25DF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318" y="4875412"/>
            <a:ext cx="1642533" cy="923925"/>
          </a:xfrm>
          <a:prstGeom prst="rect">
            <a:avLst/>
          </a:prstGeom>
        </p:spPr>
      </p:pic>
      <p:pic>
        <p:nvPicPr>
          <p:cNvPr id="58" name="Picture 57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9BA8E717-0771-02E4-2AC2-2B6D2D316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320" y="4723011"/>
            <a:ext cx="1642533" cy="923925"/>
          </a:xfrm>
          <a:prstGeom prst="rect">
            <a:avLst/>
          </a:prstGeom>
        </p:spPr>
      </p:pic>
      <p:pic>
        <p:nvPicPr>
          <p:cNvPr id="59" name="Picture 58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8D238C9E-8610-33E0-8D1D-9CF21B531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314" y="4565850"/>
            <a:ext cx="1642533" cy="923925"/>
          </a:xfrm>
          <a:prstGeom prst="rect">
            <a:avLst/>
          </a:prstGeom>
        </p:spPr>
      </p:pic>
      <p:pic>
        <p:nvPicPr>
          <p:cNvPr id="60" name="Picture 59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AD6B155C-553A-A5E4-3018-058A774BF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316" y="4413449"/>
            <a:ext cx="1642533" cy="923925"/>
          </a:xfrm>
          <a:prstGeom prst="rect">
            <a:avLst/>
          </a:prstGeom>
        </p:spPr>
      </p:pic>
      <p:pic>
        <p:nvPicPr>
          <p:cNvPr id="61" name="Picture 60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2C7C111E-E0EA-6728-F88A-4B593C5EF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310" y="4256288"/>
            <a:ext cx="1642533" cy="923925"/>
          </a:xfrm>
          <a:prstGeom prst="rect">
            <a:avLst/>
          </a:prstGeom>
        </p:spPr>
      </p:pic>
      <p:pic>
        <p:nvPicPr>
          <p:cNvPr id="62" name="Picture 61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E779A854-E85C-150C-9C3B-533E8F753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312" y="4103887"/>
            <a:ext cx="1642533" cy="923925"/>
          </a:xfrm>
          <a:prstGeom prst="rect">
            <a:avLst/>
          </a:prstGeom>
        </p:spPr>
      </p:pic>
      <p:pic>
        <p:nvPicPr>
          <p:cNvPr id="63" name="Picture 62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67E61A3D-021B-6E67-CC3C-E9EF7EC64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306" y="3946726"/>
            <a:ext cx="1642533" cy="923925"/>
          </a:xfrm>
          <a:prstGeom prst="rect">
            <a:avLst/>
          </a:prstGeom>
        </p:spPr>
      </p:pic>
      <p:pic>
        <p:nvPicPr>
          <p:cNvPr id="64" name="Picture 63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BECA9226-C156-3607-CEEE-5DDF797CE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308" y="3794325"/>
            <a:ext cx="1642533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1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nodeType="after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3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1" fill="hold" nodeType="withEffect" p14:presetBounceEnd="2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7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8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nodeType="withEffect" p14:presetBounceEnd="2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1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2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 p14:presetBounceEnd="2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5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6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8" presetID="2" presetClass="entr" presetSubtype="1" fill="hold" nodeType="after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30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31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" fill="hold" nodeType="withEffect" p14:presetBounceEnd="2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34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35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1" fill="hold" nodeType="withEffect" p14:presetBounceEnd="2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38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39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1" fill="hold" nodeType="withEffect" p14:presetBounceEnd="2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42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43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1" fill="hold" nodeType="withEffect" p14:presetBounceEnd="2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46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47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1" fill="hold" nodeType="withEffect" p14:presetBounceEnd="2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5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51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1" fill="hold" nodeType="withEffect" p14:presetBounceEnd="2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5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5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1" fill="hold" nodeType="withEffect" p14:presetBounceEnd="20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58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59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8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1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1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1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5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5EE4-B225-DAD3-A2E4-2AEFA236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二、产业结构优化</a:t>
            </a:r>
            <a:endParaRPr lang="en-US" dirty="0"/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818B7F93-CFE0-834E-1BC8-7B0517682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061410"/>
              </p:ext>
            </p:extLst>
          </p:nvPr>
        </p:nvGraphicFramePr>
        <p:xfrm>
          <a:off x="2522882" y="1987825"/>
          <a:ext cx="7146235" cy="4764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EAB45244-81C2-7C10-46AC-14ABB171CE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041779"/>
              </p:ext>
            </p:extLst>
          </p:nvPr>
        </p:nvGraphicFramePr>
        <p:xfrm>
          <a:off x="12192000" y="1987825"/>
          <a:ext cx="7146235" cy="4764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49E89FF3-05B5-A159-2098-43D897301AF3}"/>
              </a:ext>
            </a:extLst>
          </p:cNvPr>
          <p:cNvGrpSpPr>
            <a:grpSpLocks noChangeAspect="1"/>
          </p:cNvGrpSpPr>
          <p:nvPr/>
        </p:nvGrpSpPr>
        <p:grpSpPr>
          <a:xfrm>
            <a:off x="1480630" y="1568992"/>
            <a:ext cx="2084504" cy="418833"/>
            <a:chOff x="1453597" y="1290697"/>
            <a:chExt cx="2035038" cy="408894"/>
          </a:xfrm>
        </p:grpSpPr>
        <p:sp>
          <p:nvSpPr>
            <p:cNvPr id="30" name="Flowchart: Alternate Process 29">
              <a:extLst>
                <a:ext uri="{FF2B5EF4-FFF2-40B4-BE49-F238E27FC236}">
                  <a16:creationId xmlns:a16="http://schemas.microsoft.com/office/drawing/2014/main" id="{2341276C-E11E-3928-2622-68534BCFCEC1}"/>
                </a:ext>
              </a:extLst>
            </p:cNvPr>
            <p:cNvSpPr/>
            <p:nvPr/>
          </p:nvSpPr>
          <p:spPr>
            <a:xfrm>
              <a:off x="1461052" y="1290697"/>
              <a:ext cx="2027583" cy="408894"/>
            </a:xfrm>
            <a:prstGeom prst="flowChartAlternateProcess">
              <a:avLst/>
            </a:prstGeom>
            <a:gradFill flip="none" rotWithShape="1">
              <a:gsLst>
                <a:gs pos="0">
                  <a:srgbClr val="1A4FE7"/>
                </a:gs>
                <a:gs pos="50000">
                  <a:srgbClr val="1A4FE7"/>
                </a:gs>
                <a:gs pos="100000">
                  <a:srgbClr val="1E63CD"/>
                </a:gs>
              </a:gsLst>
              <a:lin ang="16200000" scaled="1"/>
              <a:tileRect/>
            </a:gradFill>
            <a:ln w="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b="1" dirty="0"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       改革前</a:t>
              </a:r>
              <a:endParaRPr lang="en-US" sz="2400" b="1" dirty="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sp>
          <p:nvSpPr>
            <p:cNvPr id="33" name="Flowchart: Alternate Process 32">
              <a:extLst>
                <a:ext uri="{FF2B5EF4-FFF2-40B4-BE49-F238E27FC236}">
                  <a16:creationId xmlns:a16="http://schemas.microsoft.com/office/drawing/2014/main" id="{E07F4C00-A2A9-1625-C4FB-139AC0A16EE5}"/>
                </a:ext>
              </a:extLst>
            </p:cNvPr>
            <p:cNvSpPr/>
            <p:nvPr/>
          </p:nvSpPr>
          <p:spPr>
            <a:xfrm>
              <a:off x="1453597" y="1290697"/>
              <a:ext cx="231086" cy="408894"/>
            </a:xfrm>
            <a:prstGeom prst="flowChartAlternateProcess">
              <a:avLst/>
            </a:prstGeom>
            <a:gradFill>
              <a:gsLst>
                <a:gs pos="5000">
                  <a:srgbClr val="FED25D"/>
                </a:gs>
                <a:gs pos="50000">
                  <a:srgbClr val="FFB53C"/>
                </a:gs>
                <a:gs pos="99000">
                  <a:srgbClr val="FED25D"/>
                </a:gs>
              </a:gsLst>
              <a:lin ang="5400000" scaled="1"/>
            </a:gradFill>
            <a:ln w="19050">
              <a:noFill/>
              <a:extLst>
                <a:ext uri="{C807C97D-BFC1-408E-A445-0C87EB9F89A2}">
                  <ask:lineSketchStyleProps xmlns:ask="http://schemas.microsoft.com/office/drawing/2018/sketchyshapes" sd="852854689">
                    <a:custGeom>
                      <a:avLst/>
                      <a:gdLst>
                        <a:gd name="connsiteX0" fmla="*/ 0 w 462171"/>
                        <a:gd name="connsiteY0" fmla="*/ 68149 h 408894"/>
                        <a:gd name="connsiteX1" fmla="*/ 68149 w 462171"/>
                        <a:gd name="connsiteY1" fmla="*/ 0 h 408894"/>
                        <a:gd name="connsiteX2" fmla="*/ 394022 w 462171"/>
                        <a:gd name="connsiteY2" fmla="*/ 0 h 408894"/>
                        <a:gd name="connsiteX3" fmla="*/ 462171 w 462171"/>
                        <a:gd name="connsiteY3" fmla="*/ 68149 h 408894"/>
                        <a:gd name="connsiteX4" fmla="*/ 462171 w 462171"/>
                        <a:gd name="connsiteY4" fmla="*/ 340745 h 408894"/>
                        <a:gd name="connsiteX5" fmla="*/ 394022 w 462171"/>
                        <a:gd name="connsiteY5" fmla="*/ 408894 h 408894"/>
                        <a:gd name="connsiteX6" fmla="*/ 68149 w 462171"/>
                        <a:gd name="connsiteY6" fmla="*/ 408894 h 408894"/>
                        <a:gd name="connsiteX7" fmla="*/ 0 w 462171"/>
                        <a:gd name="connsiteY7" fmla="*/ 340745 h 408894"/>
                        <a:gd name="connsiteX8" fmla="*/ 0 w 462171"/>
                        <a:gd name="connsiteY8" fmla="*/ 68149 h 408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62171" h="408894" fill="none" extrusionOk="0">
                          <a:moveTo>
                            <a:pt x="0" y="68149"/>
                          </a:moveTo>
                          <a:cubicBezTo>
                            <a:pt x="208" y="36146"/>
                            <a:pt x="31657" y="1923"/>
                            <a:pt x="68149" y="0"/>
                          </a:cubicBezTo>
                          <a:cubicBezTo>
                            <a:pt x="217234" y="12548"/>
                            <a:pt x="341713" y="1676"/>
                            <a:pt x="394022" y="0"/>
                          </a:cubicBezTo>
                          <a:cubicBezTo>
                            <a:pt x="430779" y="-6064"/>
                            <a:pt x="455442" y="28476"/>
                            <a:pt x="462171" y="68149"/>
                          </a:cubicBezTo>
                          <a:cubicBezTo>
                            <a:pt x="440991" y="95453"/>
                            <a:pt x="478909" y="289373"/>
                            <a:pt x="462171" y="340745"/>
                          </a:cubicBezTo>
                          <a:cubicBezTo>
                            <a:pt x="462884" y="374763"/>
                            <a:pt x="426870" y="403525"/>
                            <a:pt x="394022" y="408894"/>
                          </a:cubicBezTo>
                          <a:cubicBezTo>
                            <a:pt x="234908" y="390106"/>
                            <a:pt x="168271" y="417663"/>
                            <a:pt x="68149" y="408894"/>
                          </a:cubicBezTo>
                          <a:cubicBezTo>
                            <a:pt x="32154" y="408708"/>
                            <a:pt x="-5283" y="379428"/>
                            <a:pt x="0" y="340745"/>
                          </a:cubicBezTo>
                          <a:cubicBezTo>
                            <a:pt x="10144" y="271721"/>
                            <a:pt x="21447" y="115558"/>
                            <a:pt x="0" y="68149"/>
                          </a:cubicBezTo>
                          <a:close/>
                        </a:path>
                        <a:path w="462171" h="408894" stroke="0" extrusionOk="0">
                          <a:moveTo>
                            <a:pt x="0" y="68149"/>
                          </a:moveTo>
                          <a:cubicBezTo>
                            <a:pt x="5560" y="32027"/>
                            <a:pt x="31799" y="2683"/>
                            <a:pt x="68149" y="0"/>
                          </a:cubicBezTo>
                          <a:cubicBezTo>
                            <a:pt x="116497" y="2423"/>
                            <a:pt x="349174" y="-22080"/>
                            <a:pt x="394022" y="0"/>
                          </a:cubicBezTo>
                          <a:cubicBezTo>
                            <a:pt x="430400" y="-960"/>
                            <a:pt x="463138" y="28561"/>
                            <a:pt x="462171" y="68149"/>
                          </a:cubicBezTo>
                          <a:cubicBezTo>
                            <a:pt x="481371" y="200024"/>
                            <a:pt x="451440" y="285046"/>
                            <a:pt x="462171" y="340745"/>
                          </a:cubicBezTo>
                          <a:cubicBezTo>
                            <a:pt x="455360" y="380850"/>
                            <a:pt x="431001" y="408786"/>
                            <a:pt x="394022" y="408894"/>
                          </a:cubicBezTo>
                          <a:cubicBezTo>
                            <a:pt x="266190" y="390633"/>
                            <a:pt x="130523" y="414594"/>
                            <a:pt x="68149" y="408894"/>
                          </a:cubicBezTo>
                          <a:cubicBezTo>
                            <a:pt x="28195" y="408426"/>
                            <a:pt x="-6848" y="375281"/>
                            <a:pt x="0" y="340745"/>
                          </a:cubicBezTo>
                          <a:cubicBezTo>
                            <a:pt x="-23096" y="258284"/>
                            <a:pt x="21205" y="181735"/>
                            <a:pt x="0" y="6814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sp>
          <p:nvSpPr>
            <p:cNvPr id="32" name="Arrow: Pentagon 31">
              <a:extLst>
                <a:ext uri="{FF2B5EF4-FFF2-40B4-BE49-F238E27FC236}">
                  <a16:creationId xmlns:a16="http://schemas.microsoft.com/office/drawing/2014/main" id="{6015BF5C-E7B4-3061-320B-5281EAE9E9EF}"/>
                </a:ext>
              </a:extLst>
            </p:cNvPr>
            <p:cNvSpPr/>
            <p:nvPr/>
          </p:nvSpPr>
          <p:spPr>
            <a:xfrm>
              <a:off x="1571626" y="1290697"/>
              <a:ext cx="313083" cy="408894"/>
            </a:xfrm>
            <a:prstGeom prst="homePlate">
              <a:avLst/>
            </a:prstGeom>
            <a:gradFill flip="none" rotWithShape="1">
              <a:gsLst>
                <a:gs pos="5000">
                  <a:srgbClr val="FED25D"/>
                </a:gs>
                <a:gs pos="50000">
                  <a:srgbClr val="FFB53C"/>
                </a:gs>
                <a:gs pos="99000">
                  <a:srgbClr val="FED25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9648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5EE4-B225-DAD3-A2E4-2AEFA236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二、产业结构优化</a:t>
            </a:r>
            <a:endParaRPr lang="en-US" dirty="0"/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818B7F93-CFE0-834E-1BC8-7B0517682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2472042"/>
              </p:ext>
            </p:extLst>
          </p:nvPr>
        </p:nvGraphicFramePr>
        <p:xfrm>
          <a:off x="0" y="2868328"/>
          <a:ext cx="5984510" cy="3989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EAB45244-81C2-7C10-46AC-14ABB171CE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9482079"/>
              </p:ext>
            </p:extLst>
          </p:nvPr>
        </p:nvGraphicFramePr>
        <p:xfrm>
          <a:off x="5045765" y="1987825"/>
          <a:ext cx="7146235" cy="4764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49E89FF3-05B5-A159-2098-43D897301AF3}"/>
              </a:ext>
            </a:extLst>
          </p:cNvPr>
          <p:cNvGrpSpPr>
            <a:grpSpLocks noChangeAspect="1"/>
          </p:cNvGrpSpPr>
          <p:nvPr/>
        </p:nvGrpSpPr>
        <p:grpSpPr>
          <a:xfrm>
            <a:off x="1480630" y="1568992"/>
            <a:ext cx="2084504" cy="418833"/>
            <a:chOff x="1453597" y="1290697"/>
            <a:chExt cx="2035038" cy="408894"/>
          </a:xfrm>
        </p:grpSpPr>
        <p:sp>
          <p:nvSpPr>
            <p:cNvPr id="30" name="Flowchart: Alternate Process 29">
              <a:extLst>
                <a:ext uri="{FF2B5EF4-FFF2-40B4-BE49-F238E27FC236}">
                  <a16:creationId xmlns:a16="http://schemas.microsoft.com/office/drawing/2014/main" id="{2341276C-E11E-3928-2622-68534BCFCEC1}"/>
                </a:ext>
              </a:extLst>
            </p:cNvPr>
            <p:cNvSpPr/>
            <p:nvPr/>
          </p:nvSpPr>
          <p:spPr>
            <a:xfrm>
              <a:off x="1461052" y="1290697"/>
              <a:ext cx="2027583" cy="408894"/>
            </a:xfrm>
            <a:prstGeom prst="flowChartAlternateProcess">
              <a:avLst/>
            </a:prstGeom>
            <a:gradFill flip="none" rotWithShape="1">
              <a:gsLst>
                <a:gs pos="0">
                  <a:srgbClr val="1A4FE7"/>
                </a:gs>
                <a:gs pos="50000">
                  <a:srgbClr val="1A4FE7"/>
                </a:gs>
                <a:gs pos="100000">
                  <a:srgbClr val="1E63CD"/>
                </a:gs>
              </a:gsLst>
              <a:lin ang="16200000" scaled="1"/>
              <a:tileRect/>
            </a:gradFill>
            <a:ln w="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       改革后</a:t>
              </a:r>
              <a:endParaRPr lang="en-US" sz="2400" b="1" spc="100" dirty="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sp>
          <p:nvSpPr>
            <p:cNvPr id="33" name="Flowchart: Alternate Process 32">
              <a:extLst>
                <a:ext uri="{FF2B5EF4-FFF2-40B4-BE49-F238E27FC236}">
                  <a16:creationId xmlns:a16="http://schemas.microsoft.com/office/drawing/2014/main" id="{E07F4C00-A2A9-1625-C4FB-139AC0A16EE5}"/>
                </a:ext>
              </a:extLst>
            </p:cNvPr>
            <p:cNvSpPr/>
            <p:nvPr/>
          </p:nvSpPr>
          <p:spPr>
            <a:xfrm>
              <a:off x="1453597" y="1290697"/>
              <a:ext cx="231086" cy="408894"/>
            </a:xfrm>
            <a:prstGeom prst="flowChartAlternateProcess">
              <a:avLst/>
            </a:prstGeom>
            <a:gradFill>
              <a:gsLst>
                <a:gs pos="5000">
                  <a:srgbClr val="FED25D"/>
                </a:gs>
                <a:gs pos="50000">
                  <a:srgbClr val="FFB53C"/>
                </a:gs>
                <a:gs pos="99000">
                  <a:srgbClr val="FED25D"/>
                </a:gs>
              </a:gsLst>
              <a:lin ang="5400000" scaled="1"/>
            </a:gradFill>
            <a:ln w="19050">
              <a:noFill/>
              <a:extLst>
                <a:ext uri="{C807C97D-BFC1-408E-A445-0C87EB9F89A2}">
                  <ask:lineSketchStyleProps xmlns:ask="http://schemas.microsoft.com/office/drawing/2018/sketchyshapes" sd="852854689">
                    <a:custGeom>
                      <a:avLst/>
                      <a:gdLst>
                        <a:gd name="connsiteX0" fmla="*/ 0 w 462171"/>
                        <a:gd name="connsiteY0" fmla="*/ 68149 h 408894"/>
                        <a:gd name="connsiteX1" fmla="*/ 68149 w 462171"/>
                        <a:gd name="connsiteY1" fmla="*/ 0 h 408894"/>
                        <a:gd name="connsiteX2" fmla="*/ 394022 w 462171"/>
                        <a:gd name="connsiteY2" fmla="*/ 0 h 408894"/>
                        <a:gd name="connsiteX3" fmla="*/ 462171 w 462171"/>
                        <a:gd name="connsiteY3" fmla="*/ 68149 h 408894"/>
                        <a:gd name="connsiteX4" fmla="*/ 462171 w 462171"/>
                        <a:gd name="connsiteY4" fmla="*/ 340745 h 408894"/>
                        <a:gd name="connsiteX5" fmla="*/ 394022 w 462171"/>
                        <a:gd name="connsiteY5" fmla="*/ 408894 h 408894"/>
                        <a:gd name="connsiteX6" fmla="*/ 68149 w 462171"/>
                        <a:gd name="connsiteY6" fmla="*/ 408894 h 408894"/>
                        <a:gd name="connsiteX7" fmla="*/ 0 w 462171"/>
                        <a:gd name="connsiteY7" fmla="*/ 340745 h 408894"/>
                        <a:gd name="connsiteX8" fmla="*/ 0 w 462171"/>
                        <a:gd name="connsiteY8" fmla="*/ 68149 h 408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62171" h="408894" fill="none" extrusionOk="0">
                          <a:moveTo>
                            <a:pt x="0" y="68149"/>
                          </a:moveTo>
                          <a:cubicBezTo>
                            <a:pt x="208" y="36146"/>
                            <a:pt x="31657" y="1923"/>
                            <a:pt x="68149" y="0"/>
                          </a:cubicBezTo>
                          <a:cubicBezTo>
                            <a:pt x="217234" y="12548"/>
                            <a:pt x="341713" y="1676"/>
                            <a:pt x="394022" y="0"/>
                          </a:cubicBezTo>
                          <a:cubicBezTo>
                            <a:pt x="430779" y="-6064"/>
                            <a:pt x="455442" y="28476"/>
                            <a:pt x="462171" y="68149"/>
                          </a:cubicBezTo>
                          <a:cubicBezTo>
                            <a:pt x="440991" y="95453"/>
                            <a:pt x="478909" y="289373"/>
                            <a:pt x="462171" y="340745"/>
                          </a:cubicBezTo>
                          <a:cubicBezTo>
                            <a:pt x="462884" y="374763"/>
                            <a:pt x="426870" y="403525"/>
                            <a:pt x="394022" y="408894"/>
                          </a:cubicBezTo>
                          <a:cubicBezTo>
                            <a:pt x="234908" y="390106"/>
                            <a:pt x="168271" y="417663"/>
                            <a:pt x="68149" y="408894"/>
                          </a:cubicBezTo>
                          <a:cubicBezTo>
                            <a:pt x="32154" y="408708"/>
                            <a:pt x="-5283" y="379428"/>
                            <a:pt x="0" y="340745"/>
                          </a:cubicBezTo>
                          <a:cubicBezTo>
                            <a:pt x="10144" y="271721"/>
                            <a:pt x="21447" y="115558"/>
                            <a:pt x="0" y="68149"/>
                          </a:cubicBezTo>
                          <a:close/>
                        </a:path>
                        <a:path w="462171" h="408894" stroke="0" extrusionOk="0">
                          <a:moveTo>
                            <a:pt x="0" y="68149"/>
                          </a:moveTo>
                          <a:cubicBezTo>
                            <a:pt x="5560" y="32027"/>
                            <a:pt x="31799" y="2683"/>
                            <a:pt x="68149" y="0"/>
                          </a:cubicBezTo>
                          <a:cubicBezTo>
                            <a:pt x="116497" y="2423"/>
                            <a:pt x="349174" y="-22080"/>
                            <a:pt x="394022" y="0"/>
                          </a:cubicBezTo>
                          <a:cubicBezTo>
                            <a:pt x="430400" y="-960"/>
                            <a:pt x="463138" y="28561"/>
                            <a:pt x="462171" y="68149"/>
                          </a:cubicBezTo>
                          <a:cubicBezTo>
                            <a:pt x="481371" y="200024"/>
                            <a:pt x="451440" y="285046"/>
                            <a:pt x="462171" y="340745"/>
                          </a:cubicBezTo>
                          <a:cubicBezTo>
                            <a:pt x="455360" y="380850"/>
                            <a:pt x="431001" y="408786"/>
                            <a:pt x="394022" y="408894"/>
                          </a:cubicBezTo>
                          <a:cubicBezTo>
                            <a:pt x="266190" y="390633"/>
                            <a:pt x="130523" y="414594"/>
                            <a:pt x="68149" y="408894"/>
                          </a:cubicBezTo>
                          <a:cubicBezTo>
                            <a:pt x="28195" y="408426"/>
                            <a:pt x="-6848" y="375281"/>
                            <a:pt x="0" y="340745"/>
                          </a:cubicBezTo>
                          <a:cubicBezTo>
                            <a:pt x="-23096" y="258284"/>
                            <a:pt x="21205" y="181735"/>
                            <a:pt x="0" y="6814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00" dirty="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sp>
          <p:nvSpPr>
            <p:cNvPr id="32" name="Arrow: Pentagon 31">
              <a:extLst>
                <a:ext uri="{FF2B5EF4-FFF2-40B4-BE49-F238E27FC236}">
                  <a16:creationId xmlns:a16="http://schemas.microsoft.com/office/drawing/2014/main" id="{6015BF5C-E7B4-3061-320B-5281EAE9E9EF}"/>
                </a:ext>
              </a:extLst>
            </p:cNvPr>
            <p:cNvSpPr/>
            <p:nvPr/>
          </p:nvSpPr>
          <p:spPr>
            <a:xfrm>
              <a:off x="1571626" y="1290697"/>
              <a:ext cx="313083" cy="408894"/>
            </a:xfrm>
            <a:prstGeom prst="homePlate">
              <a:avLst/>
            </a:prstGeom>
            <a:gradFill flip="none" rotWithShape="1">
              <a:gsLst>
                <a:gs pos="5000">
                  <a:srgbClr val="FED25D"/>
                </a:gs>
                <a:gs pos="50000">
                  <a:srgbClr val="FFB53C"/>
                </a:gs>
                <a:gs pos="99000">
                  <a:srgbClr val="FED25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0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493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5EE4-B225-DAD3-A2E4-2AEFA236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二、产业结构优化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9FD524-98B5-10BD-899C-BA2DD479CA66}"/>
              </a:ext>
            </a:extLst>
          </p:cNvPr>
          <p:cNvGrpSpPr/>
          <p:nvPr/>
        </p:nvGrpSpPr>
        <p:grpSpPr>
          <a:xfrm>
            <a:off x="2246349" y="5735321"/>
            <a:ext cx="8868565" cy="526774"/>
            <a:chOff x="2458278" y="5744817"/>
            <a:chExt cx="7275444" cy="432146"/>
          </a:xfrm>
        </p:grpSpPr>
        <p:sp>
          <p:nvSpPr>
            <p:cNvPr id="4" name="Arrow: Chevron 3">
              <a:extLst>
                <a:ext uri="{FF2B5EF4-FFF2-40B4-BE49-F238E27FC236}">
                  <a16:creationId xmlns:a16="http://schemas.microsoft.com/office/drawing/2014/main" id="{5CC28EB1-8EE9-D768-5B8E-AF43E3B06AAA}"/>
                </a:ext>
              </a:extLst>
            </p:cNvPr>
            <p:cNvSpPr/>
            <p:nvPr/>
          </p:nvSpPr>
          <p:spPr>
            <a:xfrm>
              <a:off x="2458278" y="5744817"/>
              <a:ext cx="7275444" cy="432146"/>
            </a:xfrm>
            <a:custGeom>
              <a:avLst/>
              <a:gdLst>
                <a:gd name="connsiteX0" fmla="*/ 0 w 7275444"/>
                <a:gd name="connsiteY0" fmla="*/ 0 h 432146"/>
                <a:gd name="connsiteX1" fmla="*/ 7059371 w 7275444"/>
                <a:gd name="connsiteY1" fmla="*/ 0 h 432146"/>
                <a:gd name="connsiteX2" fmla="*/ 7275444 w 7275444"/>
                <a:gd name="connsiteY2" fmla="*/ 216073 h 432146"/>
                <a:gd name="connsiteX3" fmla="*/ 7059371 w 7275444"/>
                <a:gd name="connsiteY3" fmla="*/ 432146 h 432146"/>
                <a:gd name="connsiteX4" fmla="*/ 0 w 7275444"/>
                <a:gd name="connsiteY4" fmla="*/ 432146 h 432146"/>
                <a:gd name="connsiteX5" fmla="*/ 216073 w 7275444"/>
                <a:gd name="connsiteY5" fmla="*/ 216073 h 432146"/>
                <a:gd name="connsiteX6" fmla="*/ 0 w 7275444"/>
                <a:gd name="connsiteY6" fmla="*/ 0 h 432146"/>
                <a:gd name="connsiteX0" fmla="*/ 0 w 7275444"/>
                <a:gd name="connsiteY0" fmla="*/ 0 h 432146"/>
                <a:gd name="connsiteX1" fmla="*/ 7059371 w 7275444"/>
                <a:gd name="connsiteY1" fmla="*/ 0 h 432146"/>
                <a:gd name="connsiteX2" fmla="*/ 7275444 w 7275444"/>
                <a:gd name="connsiteY2" fmla="*/ 216073 h 432146"/>
                <a:gd name="connsiteX3" fmla="*/ 7059371 w 7275444"/>
                <a:gd name="connsiteY3" fmla="*/ 432146 h 432146"/>
                <a:gd name="connsiteX4" fmla="*/ 0 w 7275444"/>
                <a:gd name="connsiteY4" fmla="*/ 432146 h 432146"/>
                <a:gd name="connsiteX5" fmla="*/ 96803 w 7275444"/>
                <a:gd name="connsiteY5" fmla="*/ 216073 h 432146"/>
                <a:gd name="connsiteX6" fmla="*/ 0 w 7275444"/>
                <a:gd name="connsiteY6" fmla="*/ 0 h 432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75444" h="432146">
                  <a:moveTo>
                    <a:pt x="0" y="0"/>
                  </a:moveTo>
                  <a:lnTo>
                    <a:pt x="7059371" y="0"/>
                  </a:lnTo>
                  <a:lnTo>
                    <a:pt x="7275444" y="216073"/>
                  </a:lnTo>
                  <a:lnTo>
                    <a:pt x="7059371" y="432146"/>
                  </a:lnTo>
                  <a:lnTo>
                    <a:pt x="0" y="432146"/>
                  </a:lnTo>
                  <a:lnTo>
                    <a:pt x="96803" y="21607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2000">
                  <a:srgbClr val="CAD7E8"/>
                </a:gs>
                <a:gs pos="0">
                  <a:srgbClr val="F5F8FB"/>
                </a:gs>
                <a:gs pos="92000">
                  <a:srgbClr val="CAD7E8">
                    <a:alpha val="0"/>
                  </a:srgbClr>
                </a:gs>
                <a:gs pos="100000">
                  <a:srgbClr val="CAD7E8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spc="100" dirty="0">
                  <a:solidFill>
                    <a:srgbClr val="0550A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     </a:t>
              </a:r>
              <a:r>
                <a:rPr lang="zh-CN" altLang="en-US" sz="2400" b="1" spc="100" dirty="0">
                  <a:solidFill>
                    <a:srgbClr val="0550A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　农业就业份额转移　劳动力转移卓有成效</a:t>
              </a:r>
              <a:endParaRPr lang="en-US" sz="2400" b="1" spc="100" dirty="0">
                <a:solidFill>
                  <a:srgbClr val="0550AB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pic>
          <p:nvPicPr>
            <p:cNvPr id="10" name="Graphic 9" descr="Upward trend with solid fill">
              <a:extLst>
                <a:ext uri="{FF2B5EF4-FFF2-40B4-BE49-F238E27FC236}">
                  <a16:creationId xmlns:a16="http://schemas.microsoft.com/office/drawing/2014/main" id="{9D8B0859-D779-0174-1F60-16B9B8E09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00624" y="5744817"/>
              <a:ext cx="432148" cy="43214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E384EA-0608-B0D7-E8B2-FF45ECE7A1B7}"/>
              </a:ext>
            </a:extLst>
          </p:cNvPr>
          <p:cNvGrpSpPr/>
          <p:nvPr/>
        </p:nvGrpSpPr>
        <p:grpSpPr>
          <a:xfrm>
            <a:off x="5057560" y="1483379"/>
            <a:ext cx="2076879" cy="432146"/>
            <a:chOff x="5254488" y="1660893"/>
            <a:chExt cx="1683025" cy="35019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473E834-8AFA-9204-5107-19AA03EFDD94}"/>
                </a:ext>
              </a:extLst>
            </p:cNvPr>
            <p:cNvSpPr/>
            <p:nvPr/>
          </p:nvSpPr>
          <p:spPr>
            <a:xfrm>
              <a:off x="5254488" y="1660893"/>
              <a:ext cx="367748" cy="350195"/>
            </a:xfrm>
            <a:prstGeom prst="ellipse">
              <a:avLst/>
            </a:prstGeom>
            <a:gradFill flip="none" rotWithShape="1">
              <a:gsLst>
                <a:gs pos="52000">
                  <a:srgbClr val="CAD7E8"/>
                </a:gs>
                <a:gs pos="0">
                  <a:srgbClr val="F5F8FB"/>
                </a:gs>
                <a:gs pos="50000">
                  <a:srgbClr val="F5F8FB"/>
                </a:gs>
                <a:gs pos="100000">
                  <a:srgbClr val="CAD7E8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000" b="1" spc="100">
                <a:solidFill>
                  <a:srgbClr val="0751B0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F2D508A-113E-741A-D770-6A4FCB45725A}"/>
                </a:ext>
              </a:extLst>
            </p:cNvPr>
            <p:cNvSpPr/>
            <p:nvPr/>
          </p:nvSpPr>
          <p:spPr>
            <a:xfrm>
              <a:off x="6569765" y="1660893"/>
              <a:ext cx="367748" cy="350195"/>
            </a:xfrm>
            <a:prstGeom prst="ellipse">
              <a:avLst/>
            </a:prstGeom>
            <a:gradFill flip="none" rotWithShape="1">
              <a:gsLst>
                <a:gs pos="52000">
                  <a:srgbClr val="CAD7E8"/>
                </a:gs>
                <a:gs pos="0">
                  <a:srgbClr val="F5F8FB"/>
                </a:gs>
                <a:gs pos="50000">
                  <a:srgbClr val="F5F8FB"/>
                </a:gs>
                <a:gs pos="100000">
                  <a:srgbClr val="CAD7E8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000" b="1" spc="100">
                <a:solidFill>
                  <a:srgbClr val="0751B0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D880B6-76CE-A1AF-B784-1991C3C5FB19}"/>
                </a:ext>
              </a:extLst>
            </p:cNvPr>
            <p:cNvSpPr/>
            <p:nvPr/>
          </p:nvSpPr>
          <p:spPr>
            <a:xfrm>
              <a:off x="5438361" y="1660893"/>
              <a:ext cx="1315278" cy="350195"/>
            </a:xfrm>
            <a:prstGeom prst="rect">
              <a:avLst/>
            </a:prstGeom>
            <a:gradFill flip="none" rotWithShape="1">
              <a:gsLst>
                <a:gs pos="52000">
                  <a:srgbClr val="CAD7E8"/>
                </a:gs>
                <a:gs pos="0">
                  <a:srgbClr val="F5F8FB"/>
                </a:gs>
                <a:gs pos="50000">
                  <a:srgbClr val="F5F8FB"/>
                </a:gs>
                <a:gs pos="100000">
                  <a:srgbClr val="CAD7E8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2000" b="1" spc="100" dirty="0">
                  <a:solidFill>
                    <a:srgbClr val="0751B0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农业劳动力</a:t>
              </a:r>
              <a:endParaRPr lang="en-US" sz="2000" b="1" spc="100" dirty="0">
                <a:solidFill>
                  <a:srgbClr val="0751B0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AEA25C2-782C-F8C9-721D-DFB790F6C3F1}"/>
              </a:ext>
            </a:extLst>
          </p:cNvPr>
          <p:cNvGrpSpPr/>
          <p:nvPr/>
        </p:nvGrpSpPr>
        <p:grpSpPr>
          <a:xfrm>
            <a:off x="2635874" y="1915525"/>
            <a:ext cx="2333692" cy="3411849"/>
            <a:chOff x="2635874" y="1915525"/>
            <a:chExt cx="2333692" cy="3411849"/>
          </a:xfrm>
        </p:grpSpPr>
        <p:sp>
          <p:nvSpPr>
            <p:cNvPr id="20" name="Flowchart: Alternate Process 19">
              <a:extLst>
                <a:ext uri="{FF2B5EF4-FFF2-40B4-BE49-F238E27FC236}">
                  <a16:creationId xmlns:a16="http://schemas.microsoft.com/office/drawing/2014/main" id="{3F7CA88D-348E-1B10-882F-C5A3C294B330}"/>
                </a:ext>
              </a:extLst>
            </p:cNvPr>
            <p:cNvSpPr/>
            <p:nvPr/>
          </p:nvSpPr>
          <p:spPr>
            <a:xfrm>
              <a:off x="2878494" y="4637646"/>
              <a:ext cx="1848451" cy="689728"/>
            </a:xfrm>
            <a:prstGeom prst="flowChartAlternateProcess">
              <a:avLst/>
            </a:prstGeom>
            <a:gradFill>
              <a:gsLst>
                <a:gs pos="51000">
                  <a:srgbClr val="0B69DB">
                    <a:lumMod val="90000"/>
                  </a:srgbClr>
                </a:gs>
                <a:gs pos="0">
                  <a:srgbClr val="4196FF"/>
                </a:gs>
                <a:gs pos="50000">
                  <a:srgbClr val="4196FF"/>
                </a:gs>
                <a:gs pos="100000">
                  <a:srgbClr val="0B69DB"/>
                </a:gs>
              </a:gsLst>
              <a:lin ang="5400000" scaled="1"/>
            </a:gradFill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80000"/>
                    </a:schemeClr>
                  </a:gs>
                  <a:gs pos="74000">
                    <a:schemeClr val="accent1">
                      <a:lumMod val="45000"/>
                      <a:lumOff val="55000"/>
                      <a:alpha val="50000"/>
                    </a:schemeClr>
                  </a:gs>
                  <a:gs pos="83000">
                    <a:schemeClr val="accent1">
                      <a:lumMod val="45000"/>
                      <a:lumOff val="55000"/>
                      <a:alpha val="50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8000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1978</a:t>
              </a:r>
              <a:r>
                <a:rPr lang="zh-CN" altLang="en-US" sz="20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年农业就业份额</a:t>
              </a:r>
              <a:endParaRPr lang="en-US" sz="2000" b="1" spc="100" dirty="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graphicFrame>
          <p:nvGraphicFramePr>
            <p:cNvPr id="24" name="Chart 23">
              <a:extLst>
                <a:ext uri="{FF2B5EF4-FFF2-40B4-BE49-F238E27FC236}">
                  <a16:creationId xmlns:a16="http://schemas.microsoft.com/office/drawing/2014/main" id="{5DDD6059-EACD-DD95-0D07-120D77D9B24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4124542"/>
                </p:ext>
              </p:extLst>
            </p:nvPr>
          </p:nvGraphicFramePr>
          <p:xfrm>
            <a:off x="2635874" y="1915525"/>
            <a:ext cx="2333692" cy="27221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F8F929-1A7C-7173-D344-E4433477200C}"/>
              </a:ext>
            </a:extLst>
          </p:cNvPr>
          <p:cNvGrpSpPr/>
          <p:nvPr/>
        </p:nvGrpSpPr>
        <p:grpSpPr>
          <a:xfrm>
            <a:off x="7328022" y="1915525"/>
            <a:ext cx="2333692" cy="3411849"/>
            <a:chOff x="2635874" y="1915525"/>
            <a:chExt cx="2333692" cy="3411849"/>
          </a:xfrm>
        </p:grpSpPr>
        <p:sp>
          <p:nvSpPr>
            <p:cNvPr id="29" name="Flowchart: Alternate Process 28">
              <a:extLst>
                <a:ext uri="{FF2B5EF4-FFF2-40B4-BE49-F238E27FC236}">
                  <a16:creationId xmlns:a16="http://schemas.microsoft.com/office/drawing/2014/main" id="{98E9A5B9-FCD8-9945-27EC-E92EA87CA178}"/>
                </a:ext>
              </a:extLst>
            </p:cNvPr>
            <p:cNvSpPr/>
            <p:nvPr/>
          </p:nvSpPr>
          <p:spPr>
            <a:xfrm>
              <a:off x="2878494" y="4637646"/>
              <a:ext cx="1848451" cy="689728"/>
            </a:xfrm>
            <a:prstGeom prst="flowChartAlternateProcess">
              <a:avLst/>
            </a:prstGeom>
            <a:gradFill>
              <a:gsLst>
                <a:gs pos="51000">
                  <a:srgbClr val="0B69DB">
                    <a:lumMod val="90000"/>
                  </a:srgbClr>
                </a:gs>
                <a:gs pos="0">
                  <a:srgbClr val="4196FF"/>
                </a:gs>
                <a:gs pos="50000">
                  <a:srgbClr val="4196FF"/>
                </a:gs>
                <a:gs pos="100000">
                  <a:srgbClr val="0B69DB"/>
                </a:gs>
              </a:gsLst>
              <a:lin ang="5400000" scaled="1"/>
            </a:gradFill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80000"/>
                    </a:schemeClr>
                  </a:gs>
                  <a:gs pos="74000">
                    <a:schemeClr val="accent1">
                      <a:lumMod val="45000"/>
                      <a:lumOff val="55000"/>
                      <a:alpha val="50000"/>
                    </a:schemeClr>
                  </a:gs>
                  <a:gs pos="83000">
                    <a:schemeClr val="accent1">
                      <a:lumMod val="45000"/>
                      <a:lumOff val="55000"/>
                      <a:alpha val="50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8000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1997</a:t>
              </a:r>
              <a:r>
                <a:rPr lang="zh-CN" altLang="en-US" sz="20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年农业就业份额</a:t>
              </a:r>
              <a:endParaRPr lang="en-US" sz="2000" b="1" spc="100" dirty="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graphicFrame>
          <p:nvGraphicFramePr>
            <p:cNvPr id="30" name="Chart 29">
              <a:extLst>
                <a:ext uri="{FF2B5EF4-FFF2-40B4-BE49-F238E27FC236}">
                  <a16:creationId xmlns:a16="http://schemas.microsoft.com/office/drawing/2014/main" id="{D620E07D-1B97-6297-977A-69D270E1F43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10316553"/>
                </p:ext>
              </p:extLst>
            </p:nvPr>
          </p:nvGraphicFramePr>
          <p:xfrm>
            <a:off x="2635874" y="1915525"/>
            <a:ext cx="2333692" cy="27221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sp>
        <p:nvSpPr>
          <p:cNvPr id="32" name="Arrow: Curved Right 31">
            <a:extLst>
              <a:ext uri="{FF2B5EF4-FFF2-40B4-BE49-F238E27FC236}">
                <a16:creationId xmlns:a16="http://schemas.microsoft.com/office/drawing/2014/main" id="{9776D700-8C90-115A-AFDC-B227552A4B74}"/>
              </a:ext>
            </a:extLst>
          </p:cNvPr>
          <p:cNvSpPr/>
          <p:nvPr/>
        </p:nvSpPr>
        <p:spPr>
          <a:xfrm>
            <a:off x="5390053" y="2620603"/>
            <a:ext cx="1411889" cy="1311965"/>
          </a:xfrm>
          <a:prstGeom prst="curvedRightArrow">
            <a:avLst/>
          </a:prstGeom>
          <a:gradFill flip="none" rotWithShape="1">
            <a:gsLst>
              <a:gs pos="73000">
                <a:srgbClr val="FFD75F"/>
              </a:gs>
              <a:gs pos="66000">
                <a:srgbClr val="FFD75F">
                  <a:alpha val="80000"/>
                </a:srgbClr>
              </a:gs>
              <a:gs pos="40000">
                <a:srgbClr val="FFD75F">
                  <a:alpha val="0"/>
                </a:srgbClr>
              </a:gs>
              <a:gs pos="85000">
                <a:srgbClr val="FFD75F"/>
              </a:gs>
              <a:gs pos="100000">
                <a:srgbClr val="FFD75F">
                  <a:alpha val="50000"/>
                </a:srgb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55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5EE4-B225-DAD3-A2E4-2AEFA236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三、国际化进程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9FD524-98B5-10BD-899C-BA2DD479CA66}"/>
              </a:ext>
            </a:extLst>
          </p:cNvPr>
          <p:cNvGrpSpPr/>
          <p:nvPr/>
        </p:nvGrpSpPr>
        <p:grpSpPr>
          <a:xfrm>
            <a:off x="1288879" y="5735321"/>
            <a:ext cx="10903121" cy="526774"/>
            <a:chOff x="2458278" y="5744817"/>
            <a:chExt cx="8944519" cy="432146"/>
          </a:xfrm>
        </p:grpSpPr>
        <p:sp>
          <p:nvSpPr>
            <p:cNvPr id="4" name="Arrow: Chevron 3">
              <a:extLst>
                <a:ext uri="{FF2B5EF4-FFF2-40B4-BE49-F238E27FC236}">
                  <a16:creationId xmlns:a16="http://schemas.microsoft.com/office/drawing/2014/main" id="{5CC28EB1-8EE9-D768-5B8E-AF43E3B06AAA}"/>
                </a:ext>
              </a:extLst>
            </p:cNvPr>
            <p:cNvSpPr/>
            <p:nvPr/>
          </p:nvSpPr>
          <p:spPr>
            <a:xfrm>
              <a:off x="2458278" y="5744817"/>
              <a:ext cx="8944519" cy="432146"/>
            </a:xfrm>
            <a:custGeom>
              <a:avLst/>
              <a:gdLst>
                <a:gd name="connsiteX0" fmla="*/ 0 w 7275444"/>
                <a:gd name="connsiteY0" fmla="*/ 0 h 432146"/>
                <a:gd name="connsiteX1" fmla="*/ 7059371 w 7275444"/>
                <a:gd name="connsiteY1" fmla="*/ 0 h 432146"/>
                <a:gd name="connsiteX2" fmla="*/ 7275444 w 7275444"/>
                <a:gd name="connsiteY2" fmla="*/ 216073 h 432146"/>
                <a:gd name="connsiteX3" fmla="*/ 7059371 w 7275444"/>
                <a:gd name="connsiteY3" fmla="*/ 432146 h 432146"/>
                <a:gd name="connsiteX4" fmla="*/ 0 w 7275444"/>
                <a:gd name="connsiteY4" fmla="*/ 432146 h 432146"/>
                <a:gd name="connsiteX5" fmla="*/ 216073 w 7275444"/>
                <a:gd name="connsiteY5" fmla="*/ 216073 h 432146"/>
                <a:gd name="connsiteX6" fmla="*/ 0 w 7275444"/>
                <a:gd name="connsiteY6" fmla="*/ 0 h 432146"/>
                <a:gd name="connsiteX0" fmla="*/ 0 w 7275444"/>
                <a:gd name="connsiteY0" fmla="*/ 0 h 432146"/>
                <a:gd name="connsiteX1" fmla="*/ 7059371 w 7275444"/>
                <a:gd name="connsiteY1" fmla="*/ 0 h 432146"/>
                <a:gd name="connsiteX2" fmla="*/ 7275444 w 7275444"/>
                <a:gd name="connsiteY2" fmla="*/ 216073 h 432146"/>
                <a:gd name="connsiteX3" fmla="*/ 7059371 w 7275444"/>
                <a:gd name="connsiteY3" fmla="*/ 432146 h 432146"/>
                <a:gd name="connsiteX4" fmla="*/ 0 w 7275444"/>
                <a:gd name="connsiteY4" fmla="*/ 432146 h 432146"/>
                <a:gd name="connsiteX5" fmla="*/ 96803 w 7275444"/>
                <a:gd name="connsiteY5" fmla="*/ 216073 h 432146"/>
                <a:gd name="connsiteX6" fmla="*/ 0 w 7275444"/>
                <a:gd name="connsiteY6" fmla="*/ 0 h 432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75444" h="432146">
                  <a:moveTo>
                    <a:pt x="0" y="0"/>
                  </a:moveTo>
                  <a:lnTo>
                    <a:pt x="7059371" y="0"/>
                  </a:lnTo>
                  <a:lnTo>
                    <a:pt x="7275444" y="216073"/>
                  </a:lnTo>
                  <a:lnTo>
                    <a:pt x="7059371" y="432146"/>
                  </a:lnTo>
                  <a:lnTo>
                    <a:pt x="0" y="432146"/>
                  </a:lnTo>
                  <a:lnTo>
                    <a:pt x="96803" y="21607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69000">
                  <a:srgbClr val="CAD7E8"/>
                </a:gs>
                <a:gs pos="0">
                  <a:srgbClr val="F5F8FB"/>
                </a:gs>
                <a:gs pos="92000">
                  <a:srgbClr val="CAD7E8">
                    <a:alpha val="0"/>
                  </a:srgbClr>
                </a:gs>
                <a:gs pos="100000">
                  <a:srgbClr val="CAD7E8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spc="100" dirty="0">
                  <a:solidFill>
                    <a:srgbClr val="0550A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     </a:t>
              </a:r>
              <a:r>
                <a:rPr lang="zh-CN" altLang="en-US" sz="2400" b="1" spc="100" dirty="0">
                  <a:solidFill>
                    <a:srgbClr val="0550A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　出口导向政策发挥劳动力比较优势　带动轻工业稳步增长</a:t>
              </a:r>
              <a:endParaRPr lang="en-US" sz="2400" b="1" spc="100" dirty="0">
                <a:solidFill>
                  <a:srgbClr val="0550AB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pic>
          <p:nvPicPr>
            <p:cNvPr id="10" name="Graphic 9" descr="Upward trend with solid fill">
              <a:extLst>
                <a:ext uri="{FF2B5EF4-FFF2-40B4-BE49-F238E27FC236}">
                  <a16:creationId xmlns:a16="http://schemas.microsoft.com/office/drawing/2014/main" id="{9D8B0859-D779-0174-1F60-16B9B8E09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00624" y="5744817"/>
              <a:ext cx="432148" cy="432146"/>
            </a:xfrm>
            <a:prstGeom prst="rect">
              <a:avLst/>
            </a:prstGeom>
          </p:spPr>
        </p:pic>
      </p:grp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763BF143-346B-B33F-F09C-E98E208A6AB7}"/>
              </a:ext>
            </a:extLst>
          </p:cNvPr>
          <p:cNvSpPr/>
          <p:nvPr/>
        </p:nvSpPr>
        <p:spPr>
          <a:xfrm>
            <a:off x="2878494" y="4279240"/>
            <a:ext cx="1848451" cy="689728"/>
          </a:xfrm>
          <a:prstGeom prst="flowChartAlternateProcess">
            <a:avLst/>
          </a:prstGeom>
          <a:gradFill>
            <a:gsLst>
              <a:gs pos="51000">
                <a:srgbClr val="0B69DB">
                  <a:lumMod val="90000"/>
                </a:srgbClr>
              </a:gs>
              <a:gs pos="0">
                <a:srgbClr val="4196FF"/>
              </a:gs>
              <a:gs pos="50000">
                <a:srgbClr val="4196FF"/>
              </a:gs>
              <a:gs pos="100000">
                <a:srgbClr val="0B69DB"/>
              </a:gs>
            </a:gsLst>
            <a:lin ang="5400000" scaled="1"/>
          </a:gradFill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  <a:alpha val="80000"/>
                  </a:schemeClr>
                </a:gs>
                <a:gs pos="74000">
                  <a:schemeClr val="accent1">
                    <a:lumMod val="45000"/>
                    <a:lumOff val="55000"/>
                    <a:alpha val="50000"/>
                  </a:schemeClr>
                </a:gs>
                <a:gs pos="83000">
                  <a:schemeClr val="accent1">
                    <a:lumMod val="45000"/>
                    <a:lumOff val="55000"/>
                    <a:alpha val="50000"/>
                  </a:schemeClr>
                </a:gs>
                <a:gs pos="100000">
                  <a:schemeClr val="accent1">
                    <a:lumMod val="30000"/>
                    <a:lumOff val="70000"/>
                    <a:alpha val="8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100" dirty="0">
                <a:latin typeface="Noto Sans CJK SC" panose="020B0200000000000000" pitchFamily="34" charset="-128"/>
                <a:ea typeface="Noto Sans CJK SC" panose="020B0200000000000000" pitchFamily="34" charset="-128"/>
              </a:rPr>
              <a:t>外贸总额</a:t>
            </a:r>
            <a:endParaRPr lang="en-US" sz="2000" b="1" spc="100" dirty="0"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F8F1E51E-521C-D47F-B508-5A0CEE621139}"/>
              </a:ext>
            </a:extLst>
          </p:cNvPr>
          <p:cNvSpPr/>
          <p:nvPr/>
        </p:nvSpPr>
        <p:spPr>
          <a:xfrm>
            <a:off x="7570642" y="4279240"/>
            <a:ext cx="1848451" cy="689728"/>
          </a:xfrm>
          <a:prstGeom prst="flowChartAlternateProcess">
            <a:avLst/>
          </a:prstGeom>
          <a:gradFill>
            <a:gsLst>
              <a:gs pos="51000">
                <a:srgbClr val="0B69DB">
                  <a:lumMod val="90000"/>
                </a:srgbClr>
              </a:gs>
              <a:gs pos="0">
                <a:srgbClr val="4196FF"/>
              </a:gs>
              <a:gs pos="50000">
                <a:srgbClr val="4196FF"/>
              </a:gs>
              <a:gs pos="100000">
                <a:srgbClr val="0B69DB"/>
              </a:gs>
            </a:gsLst>
            <a:lin ang="5400000" scaled="1"/>
          </a:gradFill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  <a:alpha val="80000"/>
                  </a:schemeClr>
                </a:gs>
                <a:gs pos="74000">
                  <a:schemeClr val="accent1">
                    <a:lumMod val="45000"/>
                    <a:lumOff val="55000"/>
                    <a:alpha val="50000"/>
                  </a:schemeClr>
                </a:gs>
                <a:gs pos="83000">
                  <a:schemeClr val="accent1">
                    <a:lumMod val="45000"/>
                    <a:lumOff val="55000"/>
                    <a:alpha val="50000"/>
                  </a:schemeClr>
                </a:gs>
                <a:gs pos="100000">
                  <a:schemeClr val="accent1">
                    <a:lumMod val="30000"/>
                    <a:lumOff val="70000"/>
                    <a:alpha val="8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pc="100" dirty="0">
                <a:latin typeface="Noto Sans CJK SC" panose="020B0200000000000000" pitchFamily="34" charset="-128"/>
                <a:ea typeface="Noto Sans CJK SC" panose="020B0200000000000000" pitchFamily="34" charset="-128"/>
              </a:rPr>
              <a:t>外贸依存度</a:t>
            </a:r>
            <a:endParaRPr lang="en-US" sz="2000" b="1" spc="100" dirty="0"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B65E4833-BAE1-17AA-BDDC-98462D611771}"/>
              </a:ext>
            </a:extLst>
          </p:cNvPr>
          <p:cNvSpPr>
            <a:spLocks/>
          </p:cNvSpPr>
          <p:nvPr/>
        </p:nvSpPr>
        <p:spPr>
          <a:xfrm>
            <a:off x="2024682" y="2057049"/>
            <a:ext cx="3556073" cy="2195107"/>
          </a:xfrm>
          <a:prstGeom prst="upArrow">
            <a:avLst/>
          </a:prstGeom>
          <a:gradFill>
            <a:gsLst>
              <a:gs pos="0">
                <a:srgbClr val="C00000"/>
              </a:gs>
              <a:gs pos="45000">
                <a:srgbClr val="C00000">
                  <a:alpha val="75000"/>
                </a:srgbClr>
              </a:gs>
              <a:gs pos="100000">
                <a:srgbClr val="C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20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增长</a:t>
            </a:r>
            <a:endParaRPr lang="en-US" altLang="zh-CN" sz="2000" b="1" spc="100" dirty="0">
              <a:solidFill>
                <a:srgbClr val="FED866"/>
              </a:solidFill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  <a:p>
            <a:pPr algn="ctr">
              <a:spcBef>
                <a:spcPts val="600"/>
              </a:spcBef>
            </a:pPr>
            <a:r>
              <a:rPr lang="zh-CN" altLang="en-US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近</a:t>
            </a:r>
            <a:r>
              <a:rPr lang="zh-CN" altLang="en-US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 </a:t>
            </a:r>
            <a:r>
              <a:rPr lang="en-US" altLang="zh-CN" sz="36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15</a:t>
            </a:r>
            <a:r>
              <a:rPr lang="en-US" altLang="zh-CN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 </a:t>
            </a:r>
            <a:r>
              <a:rPr lang="zh-CN" altLang="en-US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倍</a:t>
            </a:r>
            <a:endParaRPr lang="en-US" b="1" spc="100" dirty="0">
              <a:solidFill>
                <a:srgbClr val="FED866"/>
              </a:solidFill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5CB4C808-58E6-75FD-BB40-625263E8BDF0}"/>
              </a:ext>
            </a:extLst>
          </p:cNvPr>
          <p:cNvSpPr>
            <a:spLocks/>
          </p:cNvSpPr>
          <p:nvPr/>
        </p:nvSpPr>
        <p:spPr>
          <a:xfrm>
            <a:off x="6716830" y="2057048"/>
            <a:ext cx="3556073" cy="2195107"/>
          </a:xfrm>
          <a:prstGeom prst="upArrow">
            <a:avLst/>
          </a:prstGeom>
          <a:gradFill>
            <a:gsLst>
              <a:gs pos="0">
                <a:srgbClr val="C00000"/>
              </a:gs>
              <a:gs pos="45000">
                <a:srgbClr val="C00000">
                  <a:alpha val="75000"/>
                </a:srgbClr>
              </a:gs>
              <a:gs pos="100000">
                <a:srgbClr val="C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altLang="zh-CN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9.8%</a:t>
            </a:r>
            <a:r>
              <a:rPr lang="zh-CN" altLang="en-US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 </a:t>
            </a:r>
            <a:r>
              <a:rPr lang="zh-CN" altLang="en-US" sz="20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到</a:t>
            </a:r>
            <a:r>
              <a:rPr lang="zh-CN" altLang="en-US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 </a:t>
            </a:r>
            <a:r>
              <a:rPr lang="en-US" altLang="zh-CN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36.7%</a:t>
            </a:r>
            <a:r>
              <a:rPr lang="zh-CN" altLang="en-US" sz="20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，</a:t>
            </a:r>
            <a:endParaRPr lang="en-US" altLang="zh-CN" sz="2000" b="1" spc="100" dirty="0">
              <a:solidFill>
                <a:srgbClr val="FED866"/>
              </a:solidFill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  <a:p>
            <a:pPr algn="ctr">
              <a:spcBef>
                <a:spcPts val="600"/>
              </a:spcBef>
            </a:pPr>
            <a:r>
              <a:rPr lang="zh-CN" altLang="en-US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增长近</a:t>
            </a:r>
            <a:r>
              <a:rPr lang="zh-CN" altLang="en-US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 </a:t>
            </a:r>
            <a:r>
              <a:rPr lang="en-US" altLang="zh-CN" sz="36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4</a:t>
            </a:r>
            <a:r>
              <a:rPr lang="en-US" altLang="zh-CN" sz="3200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 </a:t>
            </a:r>
            <a:r>
              <a:rPr lang="zh-CN" altLang="en-US" b="1" spc="100" dirty="0">
                <a:solidFill>
                  <a:srgbClr val="FED866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rPr>
              <a:t>倍</a:t>
            </a:r>
            <a:endParaRPr lang="en-US" sz="3200" b="1" spc="100" dirty="0">
              <a:solidFill>
                <a:srgbClr val="FED866"/>
              </a:solidFill>
              <a:latin typeface="Noto Sans CJK SC" panose="020B0200000000000000" pitchFamily="34" charset="-128"/>
              <a:ea typeface="Noto Sans CJK SC" panose="020B0200000000000000" pitchFamily="34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7CB852-377E-5944-1C9C-06D554051210}"/>
              </a:ext>
            </a:extLst>
          </p:cNvPr>
          <p:cNvGrpSpPr>
            <a:grpSpLocks noChangeAspect="1"/>
          </p:cNvGrpSpPr>
          <p:nvPr/>
        </p:nvGrpSpPr>
        <p:grpSpPr>
          <a:xfrm>
            <a:off x="1462395" y="1464456"/>
            <a:ext cx="4265545" cy="418833"/>
            <a:chOff x="1453597" y="1290697"/>
            <a:chExt cx="4164321" cy="408894"/>
          </a:xfrm>
        </p:grpSpPr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BE2AB853-5087-F830-DFFF-AEDCD2D2FC5F}"/>
                </a:ext>
              </a:extLst>
            </p:cNvPr>
            <p:cNvSpPr/>
            <p:nvPr/>
          </p:nvSpPr>
          <p:spPr>
            <a:xfrm>
              <a:off x="1461051" y="1290697"/>
              <a:ext cx="4156867" cy="408894"/>
            </a:xfrm>
            <a:prstGeom prst="flowChartAlternateProcess">
              <a:avLst/>
            </a:prstGeom>
            <a:gradFill flip="none" rotWithShape="1">
              <a:gsLst>
                <a:gs pos="0">
                  <a:srgbClr val="1A4FE7"/>
                </a:gs>
                <a:gs pos="50000">
                  <a:srgbClr val="1A4FE7"/>
                </a:gs>
                <a:gs pos="100000">
                  <a:srgbClr val="1E63CD"/>
                </a:gs>
              </a:gsLst>
              <a:lin ang="16200000" scaled="1"/>
              <a:tileRect/>
            </a:gradFill>
            <a:ln w="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89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      </a:t>
              </a:r>
              <a:r>
                <a:rPr lang="en-US" altLang="zh-CN" sz="20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1978-1997</a:t>
              </a:r>
              <a:r>
                <a:rPr lang="zh-CN" altLang="en-US" sz="20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 对外贸易进展情况</a:t>
              </a:r>
              <a:endParaRPr lang="en-US" sz="2000" b="1" spc="100" dirty="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74551D94-1B51-020A-B05B-9049730BF646}"/>
                </a:ext>
              </a:extLst>
            </p:cNvPr>
            <p:cNvSpPr/>
            <p:nvPr/>
          </p:nvSpPr>
          <p:spPr>
            <a:xfrm>
              <a:off x="1453597" y="1290697"/>
              <a:ext cx="231086" cy="408894"/>
            </a:xfrm>
            <a:prstGeom prst="flowChartAlternateProcess">
              <a:avLst/>
            </a:prstGeom>
            <a:gradFill>
              <a:gsLst>
                <a:gs pos="5000">
                  <a:srgbClr val="FED25D"/>
                </a:gs>
                <a:gs pos="50000">
                  <a:srgbClr val="FFB53C"/>
                </a:gs>
                <a:gs pos="99000">
                  <a:srgbClr val="FED25D"/>
                </a:gs>
              </a:gsLst>
              <a:lin ang="5400000" scaled="1"/>
            </a:gradFill>
            <a:ln w="19050">
              <a:noFill/>
              <a:extLst>
                <a:ext uri="{C807C97D-BFC1-408E-A445-0C87EB9F89A2}">
                  <ask:lineSketchStyleProps xmlns:ask="http://schemas.microsoft.com/office/drawing/2018/sketchyshapes" sd="852854689">
                    <a:custGeom>
                      <a:avLst/>
                      <a:gdLst>
                        <a:gd name="connsiteX0" fmla="*/ 0 w 462171"/>
                        <a:gd name="connsiteY0" fmla="*/ 68149 h 408894"/>
                        <a:gd name="connsiteX1" fmla="*/ 68149 w 462171"/>
                        <a:gd name="connsiteY1" fmla="*/ 0 h 408894"/>
                        <a:gd name="connsiteX2" fmla="*/ 394022 w 462171"/>
                        <a:gd name="connsiteY2" fmla="*/ 0 h 408894"/>
                        <a:gd name="connsiteX3" fmla="*/ 462171 w 462171"/>
                        <a:gd name="connsiteY3" fmla="*/ 68149 h 408894"/>
                        <a:gd name="connsiteX4" fmla="*/ 462171 w 462171"/>
                        <a:gd name="connsiteY4" fmla="*/ 340745 h 408894"/>
                        <a:gd name="connsiteX5" fmla="*/ 394022 w 462171"/>
                        <a:gd name="connsiteY5" fmla="*/ 408894 h 408894"/>
                        <a:gd name="connsiteX6" fmla="*/ 68149 w 462171"/>
                        <a:gd name="connsiteY6" fmla="*/ 408894 h 408894"/>
                        <a:gd name="connsiteX7" fmla="*/ 0 w 462171"/>
                        <a:gd name="connsiteY7" fmla="*/ 340745 h 408894"/>
                        <a:gd name="connsiteX8" fmla="*/ 0 w 462171"/>
                        <a:gd name="connsiteY8" fmla="*/ 68149 h 408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62171" h="408894" fill="none" extrusionOk="0">
                          <a:moveTo>
                            <a:pt x="0" y="68149"/>
                          </a:moveTo>
                          <a:cubicBezTo>
                            <a:pt x="208" y="36146"/>
                            <a:pt x="31657" y="1923"/>
                            <a:pt x="68149" y="0"/>
                          </a:cubicBezTo>
                          <a:cubicBezTo>
                            <a:pt x="217234" y="12548"/>
                            <a:pt x="341713" y="1676"/>
                            <a:pt x="394022" y="0"/>
                          </a:cubicBezTo>
                          <a:cubicBezTo>
                            <a:pt x="430779" y="-6064"/>
                            <a:pt x="455442" y="28476"/>
                            <a:pt x="462171" y="68149"/>
                          </a:cubicBezTo>
                          <a:cubicBezTo>
                            <a:pt x="440991" y="95453"/>
                            <a:pt x="478909" y="289373"/>
                            <a:pt x="462171" y="340745"/>
                          </a:cubicBezTo>
                          <a:cubicBezTo>
                            <a:pt x="462884" y="374763"/>
                            <a:pt x="426870" y="403525"/>
                            <a:pt x="394022" y="408894"/>
                          </a:cubicBezTo>
                          <a:cubicBezTo>
                            <a:pt x="234908" y="390106"/>
                            <a:pt x="168271" y="417663"/>
                            <a:pt x="68149" y="408894"/>
                          </a:cubicBezTo>
                          <a:cubicBezTo>
                            <a:pt x="32154" y="408708"/>
                            <a:pt x="-5283" y="379428"/>
                            <a:pt x="0" y="340745"/>
                          </a:cubicBezTo>
                          <a:cubicBezTo>
                            <a:pt x="10144" y="271721"/>
                            <a:pt x="21447" y="115558"/>
                            <a:pt x="0" y="68149"/>
                          </a:cubicBezTo>
                          <a:close/>
                        </a:path>
                        <a:path w="462171" h="408894" stroke="0" extrusionOk="0">
                          <a:moveTo>
                            <a:pt x="0" y="68149"/>
                          </a:moveTo>
                          <a:cubicBezTo>
                            <a:pt x="5560" y="32027"/>
                            <a:pt x="31799" y="2683"/>
                            <a:pt x="68149" y="0"/>
                          </a:cubicBezTo>
                          <a:cubicBezTo>
                            <a:pt x="116497" y="2423"/>
                            <a:pt x="349174" y="-22080"/>
                            <a:pt x="394022" y="0"/>
                          </a:cubicBezTo>
                          <a:cubicBezTo>
                            <a:pt x="430400" y="-960"/>
                            <a:pt x="463138" y="28561"/>
                            <a:pt x="462171" y="68149"/>
                          </a:cubicBezTo>
                          <a:cubicBezTo>
                            <a:pt x="481371" y="200024"/>
                            <a:pt x="451440" y="285046"/>
                            <a:pt x="462171" y="340745"/>
                          </a:cubicBezTo>
                          <a:cubicBezTo>
                            <a:pt x="455360" y="380850"/>
                            <a:pt x="431001" y="408786"/>
                            <a:pt x="394022" y="408894"/>
                          </a:cubicBezTo>
                          <a:cubicBezTo>
                            <a:pt x="266190" y="390633"/>
                            <a:pt x="130523" y="414594"/>
                            <a:pt x="68149" y="408894"/>
                          </a:cubicBezTo>
                          <a:cubicBezTo>
                            <a:pt x="28195" y="408426"/>
                            <a:pt x="-6848" y="375281"/>
                            <a:pt x="0" y="340745"/>
                          </a:cubicBezTo>
                          <a:cubicBezTo>
                            <a:pt x="-23096" y="258284"/>
                            <a:pt x="21205" y="181735"/>
                            <a:pt x="0" y="6814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00" dirty="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0336C3FA-31EF-363F-6CAC-BD2B037080AC}"/>
                </a:ext>
              </a:extLst>
            </p:cNvPr>
            <p:cNvSpPr/>
            <p:nvPr/>
          </p:nvSpPr>
          <p:spPr>
            <a:xfrm>
              <a:off x="1571626" y="1290697"/>
              <a:ext cx="313083" cy="408894"/>
            </a:xfrm>
            <a:prstGeom prst="homePlate">
              <a:avLst/>
            </a:prstGeom>
            <a:gradFill flip="none" rotWithShape="1">
              <a:gsLst>
                <a:gs pos="5000">
                  <a:srgbClr val="FED25D"/>
                </a:gs>
                <a:gs pos="50000">
                  <a:srgbClr val="FFB53C"/>
                </a:gs>
                <a:gs pos="99000">
                  <a:srgbClr val="FED25D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00"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471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5EE4-B225-DAD3-A2E4-2AEFA236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四、全要素生产率提升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9FD524-98B5-10BD-899C-BA2DD479CA66}"/>
              </a:ext>
            </a:extLst>
          </p:cNvPr>
          <p:cNvGrpSpPr/>
          <p:nvPr/>
        </p:nvGrpSpPr>
        <p:grpSpPr>
          <a:xfrm>
            <a:off x="1743639" y="5735321"/>
            <a:ext cx="10903121" cy="526774"/>
            <a:chOff x="2458278" y="5744817"/>
            <a:chExt cx="8944519" cy="432146"/>
          </a:xfrm>
        </p:grpSpPr>
        <p:sp>
          <p:nvSpPr>
            <p:cNvPr id="4" name="Arrow: Chevron 3">
              <a:extLst>
                <a:ext uri="{FF2B5EF4-FFF2-40B4-BE49-F238E27FC236}">
                  <a16:creationId xmlns:a16="http://schemas.microsoft.com/office/drawing/2014/main" id="{5CC28EB1-8EE9-D768-5B8E-AF43E3B06AAA}"/>
                </a:ext>
              </a:extLst>
            </p:cNvPr>
            <p:cNvSpPr/>
            <p:nvPr/>
          </p:nvSpPr>
          <p:spPr>
            <a:xfrm>
              <a:off x="2458278" y="5744817"/>
              <a:ext cx="8944519" cy="432146"/>
            </a:xfrm>
            <a:custGeom>
              <a:avLst/>
              <a:gdLst>
                <a:gd name="connsiteX0" fmla="*/ 0 w 7275444"/>
                <a:gd name="connsiteY0" fmla="*/ 0 h 432146"/>
                <a:gd name="connsiteX1" fmla="*/ 7059371 w 7275444"/>
                <a:gd name="connsiteY1" fmla="*/ 0 h 432146"/>
                <a:gd name="connsiteX2" fmla="*/ 7275444 w 7275444"/>
                <a:gd name="connsiteY2" fmla="*/ 216073 h 432146"/>
                <a:gd name="connsiteX3" fmla="*/ 7059371 w 7275444"/>
                <a:gd name="connsiteY3" fmla="*/ 432146 h 432146"/>
                <a:gd name="connsiteX4" fmla="*/ 0 w 7275444"/>
                <a:gd name="connsiteY4" fmla="*/ 432146 h 432146"/>
                <a:gd name="connsiteX5" fmla="*/ 216073 w 7275444"/>
                <a:gd name="connsiteY5" fmla="*/ 216073 h 432146"/>
                <a:gd name="connsiteX6" fmla="*/ 0 w 7275444"/>
                <a:gd name="connsiteY6" fmla="*/ 0 h 432146"/>
                <a:gd name="connsiteX0" fmla="*/ 0 w 7275444"/>
                <a:gd name="connsiteY0" fmla="*/ 0 h 432146"/>
                <a:gd name="connsiteX1" fmla="*/ 7059371 w 7275444"/>
                <a:gd name="connsiteY1" fmla="*/ 0 h 432146"/>
                <a:gd name="connsiteX2" fmla="*/ 7275444 w 7275444"/>
                <a:gd name="connsiteY2" fmla="*/ 216073 h 432146"/>
                <a:gd name="connsiteX3" fmla="*/ 7059371 w 7275444"/>
                <a:gd name="connsiteY3" fmla="*/ 432146 h 432146"/>
                <a:gd name="connsiteX4" fmla="*/ 0 w 7275444"/>
                <a:gd name="connsiteY4" fmla="*/ 432146 h 432146"/>
                <a:gd name="connsiteX5" fmla="*/ 96803 w 7275444"/>
                <a:gd name="connsiteY5" fmla="*/ 216073 h 432146"/>
                <a:gd name="connsiteX6" fmla="*/ 0 w 7275444"/>
                <a:gd name="connsiteY6" fmla="*/ 0 h 432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75444" h="432146">
                  <a:moveTo>
                    <a:pt x="0" y="0"/>
                  </a:moveTo>
                  <a:lnTo>
                    <a:pt x="7059371" y="0"/>
                  </a:lnTo>
                  <a:lnTo>
                    <a:pt x="7275444" y="216073"/>
                  </a:lnTo>
                  <a:lnTo>
                    <a:pt x="7059371" y="432146"/>
                  </a:lnTo>
                  <a:lnTo>
                    <a:pt x="0" y="432146"/>
                  </a:lnTo>
                  <a:lnTo>
                    <a:pt x="96803" y="21607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69000">
                  <a:srgbClr val="CAD7E8"/>
                </a:gs>
                <a:gs pos="0">
                  <a:srgbClr val="F5F8FB"/>
                </a:gs>
                <a:gs pos="92000">
                  <a:srgbClr val="CAD7E8">
                    <a:alpha val="0"/>
                  </a:srgbClr>
                </a:gs>
                <a:gs pos="100000">
                  <a:srgbClr val="CAD7E8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spc="100" dirty="0">
                  <a:solidFill>
                    <a:srgbClr val="0550A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     </a:t>
              </a:r>
              <a:r>
                <a:rPr lang="zh-CN" altLang="en-US" sz="2400" b="1" spc="100" dirty="0">
                  <a:solidFill>
                    <a:srgbClr val="0550A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　“放权让利”改革推行　破解“大锅饭”激励不足</a:t>
              </a:r>
              <a:endParaRPr lang="en-US" sz="2400" b="1" spc="100" dirty="0">
                <a:solidFill>
                  <a:srgbClr val="0550AB"/>
                </a:solidFill>
                <a:latin typeface="Noto Sans CJK SC" panose="020B0200000000000000" pitchFamily="34" charset="-128"/>
                <a:ea typeface="Noto Sans CJK SC" panose="020B0200000000000000" pitchFamily="34" charset="-128"/>
              </a:endParaRPr>
            </a:p>
          </p:txBody>
        </p:sp>
        <p:pic>
          <p:nvPicPr>
            <p:cNvPr id="10" name="Graphic 9" descr="Upward trend with solid fill">
              <a:extLst>
                <a:ext uri="{FF2B5EF4-FFF2-40B4-BE49-F238E27FC236}">
                  <a16:creationId xmlns:a16="http://schemas.microsoft.com/office/drawing/2014/main" id="{9D8B0859-D779-0174-1F60-16B9B8E09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00624" y="5744817"/>
              <a:ext cx="432148" cy="43214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51829A-F647-9F7C-AE7B-DC49BFD5FE44}"/>
              </a:ext>
            </a:extLst>
          </p:cNvPr>
          <p:cNvGrpSpPr/>
          <p:nvPr/>
        </p:nvGrpSpPr>
        <p:grpSpPr>
          <a:xfrm>
            <a:off x="1109150" y="1602801"/>
            <a:ext cx="10719445" cy="1679906"/>
            <a:chOff x="1462395" y="1464456"/>
            <a:chExt cx="10719445" cy="167990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D7CB852-377E-5944-1C9C-06D55405121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62395" y="1464456"/>
              <a:ext cx="4265545" cy="418833"/>
              <a:chOff x="1453597" y="1290697"/>
              <a:chExt cx="4164321" cy="408894"/>
            </a:xfrm>
          </p:grpSpPr>
          <p:sp>
            <p:nvSpPr>
              <p:cNvPr id="6" name="Flowchart: Alternate Process 5">
                <a:extLst>
                  <a:ext uri="{FF2B5EF4-FFF2-40B4-BE49-F238E27FC236}">
                    <a16:creationId xmlns:a16="http://schemas.microsoft.com/office/drawing/2014/main" id="{BE2AB853-5087-F830-DFFF-AEDCD2D2FC5F}"/>
                  </a:ext>
                </a:extLst>
              </p:cNvPr>
              <p:cNvSpPr/>
              <p:nvPr/>
            </p:nvSpPr>
            <p:spPr>
              <a:xfrm>
                <a:off x="1461051" y="1290697"/>
                <a:ext cx="4156867" cy="408894"/>
              </a:xfrm>
              <a:prstGeom prst="flowChartAlternateProcess">
                <a:avLst/>
              </a:prstGeom>
              <a:gradFill flip="none" rotWithShape="1">
                <a:gsLst>
                  <a:gs pos="0">
                    <a:srgbClr val="1A4FE7"/>
                  </a:gs>
                  <a:gs pos="50000">
                    <a:srgbClr val="1A4FE7"/>
                  </a:gs>
                  <a:gs pos="100000">
                    <a:srgbClr val="1E63CD"/>
                  </a:gs>
                </a:gsLst>
                <a:lin ang="16200000" scaled="1"/>
                <a:tileRect/>
              </a:gradFill>
              <a:ln w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5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89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000" b="1" spc="100" dirty="0">
                    <a:latin typeface="Noto Sans CJK SC" panose="020B0200000000000000" pitchFamily="34" charset="-128"/>
                    <a:ea typeface="Noto Sans CJK SC" panose="020B0200000000000000" pitchFamily="34" charset="-128"/>
                  </a:rPr>
                  <a:t>       </a:t>
                </a:r>
                <a:r>
                  <a:rPr lang="en-US" altLang="zh-CN" sz="2000" b="1" spc="100" dirty="0">
                    <a:latin typeface="Noto Sans CJK SC" panose="020B0200000000000000" pitchFamily="34" charset="-128"/>
                    <a:ea typeface="Noto Sans CJK SC" panose="020B0200000000000000" pitchFamily="34" charset="-128"/>
                  </a:rPr>
                  <a:t>1. </a:t>
                </a:r>
                <a:r>
                  <a:rPr lang="zh-CN" altLang="en-US" sz="2000" b="1" spc="100" dirty="0">
                    <a:latin typeface="Noto Sans CJK SC" panose="020B0200000000000000" pitchFamily="34" charset="-128"/>
                    <a:ea typeface="Noto Sans CJK SC" panose="020B0200000000000000" pitchFamily="34" charset="-128"/>
                  </a:rPr>
                  <a:t>总要素生产率（</a:t>
                </a:r>
                <a:r>
                  <a:rPr lang="en-US" altLang="zh-CN" sz="2000" b="1" spc="100" dirty="0">
                    <a:latin typeface="Noto Sans CJK SC" panose="020B0200000000000000" pitchFamily="34" charset="-128"/>
                    <a:ea typeface="Noto Sans CJK SC" panose="020B0200000000000000" pitchFamily="34" charset="-128"/>
                  </a:rPr>
                  <a:t>TFP</a:t>
                </a:r>
                <a:r>
                  <a:rPr lang="zh-CN" altLang="en-US" sz="2000" b="1" spc="100" dirty="0">
                    <a:latin typeface="Noto Sans CJK SC" panose="020B0200000000000000" pitchFamily="34" charset="-128"/>
                    <a:ea typeface="Noto Sans CJK SC" panose="020B0200000000000000" pitchFamily="34" charset="-128"/>
                  </a:rPr>
                  <a:t>）跃阶</a:t>
                </a:r>
                <a:endParaRPr lang="en-US" sz="20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endParaRPr>
              </a:p>
            </p:txBody>
          </p:sp>
          <p:sp>
            <p:nvSpPr>
              <p:cNvPr id="7" name="Flowchart: Alternate Process 6">
                <a:extLst>
                  <a:ext uri="{FF2B5EF4-FFF2-40B4-BE49-F238E27FC236}">
                    <a16:creationId xmlns:a16="http://schemas.microsoft.com/office/drawing/2014/main" id="{74551D94-1B51-020A-B05B-9049730BF646}"/>
                  </a:ext>
                </a:extLst>
              </p:cNvPr>
              <p:cNvSpPr/>
              <p:nvPr/>
            </p:nvSpPr>
            <p:spPr>
              <a:xfrm>
                <a:off x="1453597" y="1290697"/>
                <a:ext cx="231086" cy="408894"/>
              </a:xfrm>
              <a:prstGeom prst="flowChartAlternateProcess">
                <a:avLst/>
              </a:prstGeom>
              <a:gradFill>
                <a:gsLst>
                  <a:gs pos="5000">
                    <a:srgbClr val="FED25D"/>
                  </a:gs>
                  <a:gs pos="50000">
                    <a:srgbClr val="FFB53C"/>
                  </a:gs>
                  <a:gs pos="99000">
                    <a:srgbClr val="FED25D"/>
                  </a:gs>
                </a:gsLst>
                <a:lin ang="5400000" scaled="1"/>
              </a:gradFill>
              <a:ln w="19050">
                <a:noFill/>
                <a:extLst>
                  <a:ext uri="{C807C97D-BFC1-408E-A445-0C87EB9F89A2}">
                    <ask:lineSketchStyleProps xmlns:ask="http://schemas.microsoft.com/office/drawing/2018/sketchyshapes" sd="852854689">
                      <a:custGeom>
                        <a:avLst/>
                        <a:gdLst>
                          <a:gd name="connsiteX0" fmla="*/ 0 w 462171"/>
                          <a:gd name="connsiteY0" fmla="*/ 68149 h 408894"/>
                          <a:gd name="connsiteX1" fmla="*/ 68149 w 462171"/>
                          <a:gd name="connsiteY1" fmla="*/ 0 h 408894"/>
                          <a:gd name="connsiteX2" fmla="*/ 394022 w 462171"/>
                          <a:gd name="connsiteY2" fmla="*/ 0 h 408894"/>
                          <a:gd name="connsiteX3" fmla="*/ 462171 w 462171"/>
                          <a:gd name="connsiteY3" fmla="*/ 68149 h 408894"/>
                          <a:gd name="connsiteX4" fmla="*/ 462171 w 462171"/>
                          <a:gd name="connsiteY4" fmla="*/ 340745 h 408894"/>
                          <a:gd name="connsiteX5" fmla="*/ 394022 w 462171"/>
                          <a:gd name="connsiteY5" fmla="*/ 408894 h 408894"/>
                          <a:gd name="connsiteX6" fmla="*/ 68149 w 462171"/>
                          <a:gd name="connsiteY6" fmla="*/ 408894 h 408894"/>
                          <a:gd name="connsiteX7" fmla="*/ 0 w 462171"/>
                          <a:gd name="connsiteY7" fmla="*/ 340745 h 408894"/>
                          <a:gd name="connsiteX8" fmla="*/ 0 w 462171"/>
                          <a:gd name="connsiteY8" fmla="*/ 68149 h 40889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2171" h="408894" fill="none" extrusionOk="0">
                            <a:moveTo>
                              <a:pt x="0" y="68149"/>
                            </a:moveTo>
                            <a:cubicBezTo>
                              <a:pt x="208" y="36146"/>
                              <a:pt x="31657" y="1923"/>
                              <a:pt x="68149" y="0"/>
                            </a:cubicBezTo>
                            <a:cubicBezTo>
                              <a:pt x="217234" y="12548"/>
                              <a:pt x="341713" y="1676"/>
                              <a:pt x="394022" y="0"/>
                            </a:cubicBezTo>
                            <a:cubicBezTo>
                              <a:pt x="430779" y="-6064"/>
                              <a:pt x="455442" y="28476"/>
                              <a:pt x="462171" y="68149"/>
                            </a:cubicBezTo>
                            <a:cubicBezTo>
                              <a:pt x="440991" y="95453"/>
                              <a:pt x="478909" y="289373"/>
                              <a:pt x="462171" y="340745"/>
                            </a:cubicBezTo>
                            <a:cubicBezTo>
                              <a:pt x="462884" y="374763"/>
                              <a:pt x="426870" y="403525"/>
                              <a:pt x="394022" y="408894"/>
                            </a:cubicBezTo>
                            <a:cubicBezTo>
                              <a:pt x="234908" y="390106"/>
                              <a:pt x="168271" y="417663"/>
                              <a:pt x="68149" y="408894"/>
                            </a:cubicBezTo>
                            <a:cubicBezTo>
                              <a:pt x="32154" y="408708"/>
                              <a:pt x="-5283" y="379428"/>
                              <a:pt x="0" y="340745"/>
                            </a:cubicBezTo>
                            <a:cubicBezTo>
                              <a:pt x="10144" y="271721"/>
                              <a:pt x="21447" y="115558"/>
                              <a:pt x="0" y="68149"/>
                            </a:cubicBezTo>
                            <a:close/>
                          </a:path>
                          <a:path w="462171" h="408894" stroke="0" extrusionOk="0">
                            <a:moveTo>
                              <a:pt x="0" y="68149"/>
                            </a:moveTo>
                            <a:cubicBezTo>
                              <a:pt x="5560" y="32027"/>
                              <a:pt x="31799" y="2683"/>
                              <a:pt x="68149" y="0"/>
                            </a:cubicBezTo>
                            <a:cubicBezTo>
                              <a:pt x="116497" y="2423"/>
                              <a:pt x="349174" y="-22080"/>
                              <a:pt x="394022" y="0"/>
                            </a:cubicBezTo>
                            <a:cubicBezTo>
                              <a:pt x="430400" y="-960"/>
                              <a:pt x="463138" y="28561"/>
                              <a:pt x="462171" y="68149"/>
                            </a:cubicBezTo>
                            <a:cubicBezTo>
                              <a:pt x="481371" y="200024"/>
                              <a:pt x="451440" y="285046"/>
                              <a:pt x="462171" y="340745"/>
                            </a:cubicBezTo>
                            <a:cubicBezTo>
                              <a:pt x="455360" y="380850"/>
                              <a:pt x="431001" y="408786"/>
                              <a:pt x="394022" y="408894"/>
                            </a:cubicBezTo>
                            <a:cubicBezTo>
                              <a:pt x="266190" y="390633"/>
                              <a:pt x="130523" y="414594"/>
                              <a:pt x="68149" y="408894"/>
                            </a:cubicBezTo>
                            <a:cubicBezTo>
                              <a:pt x="28195" y="408426"/>
                              <a:pt x="-6848" y="375281"/>
                              <a:pt x="0" y="340745"/>
                            </a:cubicBezTo>
                            <a:cubicBezTo>
                              <a:pt x="-23096" y="258284"/>
                              <a:pt x="21205" y="181735"/>
                              <a:pt x="0" y="68149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pc="100" dirty="0">
                  <a:latin typeface="Noto Sans CJK SC" panose="020B0200000000000000" pitchFamily="34" charset="-128"/>
                  <a:ea typeface="Noto Sans CJK SC" panose="020B0200000000000000" pitchFamily="34" charset="-128"/>
                </a:endParaRPr>
              </a:p>
            </p:txBody>
          </p:sp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0336C3FA-31EF-363F-6CAC-BD2B037080AC}"/>
                  </a:ext>
                </a:extLst>
              </p:cNvPr>
              <p:cNvSpPr/>
              <p:nvPr/>
            </p:nvSpPr>
            <p:spPr>
              <a:xfrm>
                <a:off x="1571626" y="1290697"/>
                <a:ext cx="313083" cy="408894"/>
              </a:xfrm>
              <a:prstGeom prst="homePlate">
                <a:avLst/>
              </a:prstGeom>
              <a:gradFill flip="none" rotWithShape="1">
                <a:gsLst>
                  <a:gs pos="5000">
                    <a:srgbClr val="FED25D"/>
                  </a:gs>
                  <a:gs pos="50000">
                    <a:srgbClr val="FFB53C"/>
                  </a:gs>
                  <a:gs pos="99000">
                    <a:srgbClr val="FED25D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pc="100">
                  <a:latin typeface="Noto Sans CJK SC" panose="020B0200000000000000" pitchFamily="34" charset="-128"/>
                  <a:ea typeface="Noto Sans CJK SC" panose="020B0200000000000000" pitchFamily="34" charset="-128"/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0D326C7-0F9E-981E-CB82-D563BE6D66DB}"/>
                </a:ext>
              </a:extLst>
            </p:cNvPr>
            <p:cNvSpPr/>
            <p:nvPr/>
          </p:nvSpPr>
          <p:spPr>
            <a:xfrm>
              <a:off x="1903986" y="2071728"/>
              <a:ext cx="10277854" cy="107263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改革前年均增长仅</a:t>
              </a: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 </a:t>
              </a:r>
              <a:r>
                <a:rPr kumimoji="0" lang="en-US" altLang="zh-CN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0.53% </a:t>
              </a: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，少数年份为负，资源浪费严重；</a:t>
              </a:r>
              <a:endParaRPr kumimoji="0" lang="en-US" altLang="zh-CN" sz="1800" b="1" i="0" u="none" strike="noStrike" kern="1200" cap="none" spc="100" normalizeH="0" baseline="0" noProof="0" dirty="0">
                <a:ln>
                  <a:noFill/>
                </a:ln>
                <a:solidFill>
                  <a:srgbClr val="0E4F9B"/>
                </a:soli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改革后，</a:t>
              </a:r>
              <a:r>
                <a:rPr kumimoji="0" lang="en-US" altLang="zh-CN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TFP</a:t>
              </a: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增长对总产出增长的贡献率达到</a:t>
              </a:r>
              <a:r>
                <a:rPr kumimoji="0" lang="zh-CN" altLang="en-US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 </a:t>
              </a:r>
              <a:r>
                <a:rPr kumimoji="0" lang="en-US" altLang="zh-CN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28.5% </a:t>
              </a: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，</a:t>
              </a:r>
              <a:r>
                <a:rPr kumimoji="0" lang="zh-CN" altLang="en-US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乡镇企业 </a:t>
              </a: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成为增长主力</a:t>
              </a:r>
              <a:r>
                <a:rPr lang="zh-CN" altLang="en-US" b="1" spc="100" dirty="0">
                  <a:solidFill>
                    <a:srgbClr val="0E4F9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。</a:t>
              </a:r>
              <a:endParaRPr kumimoji="0" lang="en-US" sz="1800" b="1" i="0" u="none" strike="noStrike" kern="1200" cap="none" spc="100" normalizeH="0" baseline="0" noProof="0" dirty="0">
                <a:ln>
                  <a:noFill/>
                </a:ln>
                <a:solidFill>
                  <a:srgbClr val="0E4F9B"/>
                </a:soli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634CFE-A1DE-5865-E84B-927D0A539246}"/>
              </a:ext>
            </a:extLst>
          </p:cNvPr>
          <p:cNvGrpSpPr/>
          <p:nvPr/>
        </p:nvGrpSpPr>
        <p:grpSpPr>
          <a:xfrm>
            <a:off x="1109150" y="3575293"/>
            <a:ext cx="10719445" cy="1713958"/>
            <a:chOff x="1462395" y="1464456"/>
            <a:chExt cx="10719445" cy="17139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41E92CA-3A5F-7D40-61DE-BEFC5693980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62395" y="1464456"/>
              <a:ext cx="4265545" cy="418833"/>
              <a:chOff x="1453597" y="1290697"/>
              <a:chExt cx="4164321" cy="408894"/>
            </a:xfrm>
          </p:grpSpPr>
          <p:sp>
            <p:nvSpPr>
              <p:cNvPr id="26" name="Flowchart: Alternate Process 25">
                <a:extLst>
                  <a:ext uri="{FF2B5EF4-FFF2-40B4-BE49-F238E27FC236}">
                    <a16:creationId xmlns:a16="http://schemas.microsoft.com/office/drawing/2014/main" id="{B793A9C5-0726-9B61-1022-8A97BC9937CD}"/>
                  </a:ext>
                </a:extLst>
              </p:cNvPr>
              <p:cNvSpPr/>
              <p:nvPr/>
            </p:nvSpPr>
            <p:spPr>
              <a:xfrm>
                <a:off x="1461051" y="1290697"/>
                <a:ext cx="4156867" cy="408894"/>
              </a:xfrm>
              <a:prstGeom prst="flowChartAlternateProcess">
                <a:avLst/>
              </a:prstGeom>
              <a:gradFill flip="none" rotWithShape="1">
                <a:gsLst>
                  <a:gs pos="0">
                    <a:srgbClr val="1A4FE7"/>
                  </a:gs>
                  <a:gs pos="50000">
                    <a:srgbClr val="1A4FE7"/>
                  </a:gs>
                  <a:gs pos="100000">
                    <a:srgbClr val="1E63CD"/>
                  </a:gs>
                </a:gsLst>
                <a:lin ang="16200000" scaled="1"/>
                <a:tileRect/>
              </a:gradFill>
              <a:ln w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5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89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000" b="1" spc="100" dirty="0">
                    <a:latin typeface="Noto Sans CJK SC" panose="020B0200000000000000" pitchFamily="34" charset="-128"/>
                    <a:ea typeface="Noto Sans CJK SC" panose="020B0200000000000000" pitchFamily="34" charset="-128"/>
                  </a:rPr>
                  <a:t>       </a:t>
                </a:r>
                <a:r>
                  <a:rPr lang="en-US" altLang="zh-CN" sz="2000" b="1" spc="100" dirty="0">
                    <a:latin typeface="Noto Sans CJK SC" panose="020B0200000000000000" pitchFamily="34" charset="-128"/>
                    <a:ea typeface="Noto Sans CJK SC" panose="020B0200000000000000" pitchFamily="34" charset="-128"/>
                  </a:rPr>
                  <a:t>2. </a:t>
                </a:r>
                <a:r>
                  <a:rPr lang="zh-CN" altLang="en-US" sz="2000" b="1" spc="100" dirty="0">
                    <a:latin typeface="Noto Sans CJK SC" panose="020B0200000000000000" pitchFamily="34" charset="-128"/>
                    <a:ea typeface="Noto Sans CJK SC" panose="020B0200000000000000" pitchFamily="34" charset="-128"/>
                  </a:rPr>
                  <a:t>第一、二产业改革成效良好</a:t>
                </a:r>
                <a:endParaRPr lang="en-US" sz="2000" b="1" spc="100" dirty="0">
                  <a:latin typeface="Noto Sans CJK SC" panose="020B0200000000000000" pitchFamily="34" charset="-128"/>
                  <a:ea typeface="Noto Sans CJK SC" panose="020B0200000000000000" pitchFamily="34" charset="-128"/>
                </a:endParaRPr>
              </a:p>
            </p:txBody>
          </p:sp>
          <p:sp>
            <p:nvSpPr>
              <p:cNvPr id="27" name="Flowchart: Alternate Process 26">
                <a:extLst>
                  <a:ext uri="{FF2B5EF4-FFF2-40B4-BE49-F238E27FC236}">
                    <a16:creationId xmlns:a16="http://schemas.microsoft.com/office/drawing/2014/main" id="{06E9A059-C3AA-1187-D162-7406FEB0CADA}"/>
                  </a:ext>
                </a:extLst>
              </p:cNvPr>
              <p:cNvSpPr/>
              <p:nvPr/>
            </p:nvSpPr>
            <p:spPr>
              <a:xfrm>
                <a:off x="1453597" y="1290697"/>
                <a:ext cx="231086" cy="408894"/>
              </a:xfrm>
              <a:prstGeom prst="flowChartAlternateProcess">
                <a:avLst/>
              </a:prstGeom>
              <a:gradFill>
                <a:gsLst>
                  <a:gs pos="5000">
                    <a:srgbClr val="FED25D"/>
                  </a:gs>
                  <a:gs pos="50000">
                    <a:srgbClr val="FFB53C"/>
                  </a:gs>
                  <a:gs pos="99000">
                    <a:srgbClr val="FED25D"/>
                  </a:gs>
                </a:gsLst>
                <a:lin ang="5400000" scaled="1"/>
              </a:gradFill>
              <a:ln w="19050">
                <a:noFill/>
                <a:extLst>
                  <a:ext uri="{C807C97D-BFC1-408E-A445-0C87EB9F89A2}">
                    <ask:lineSketchStyleProps xmlns:ask="http://schemas.microsoft.com/office/drawing/2018/sketchyshapes" sd="852854689">
                      <a:custGeom>
                        <a:avLst/>
                        <a:gdLst>
                          <a:gd name="connsiteX0" fmla="*/ 0 w 462171"/>
                          <a:gd name="connsiteY0" fmla="*/ 68149 h 408894"/>
                          <a:gd name="connsiteX1" fmla="*/ 68149 w 462171"/>
                          <a:gd name="connsiteY1" fmla="*/ 0 h 408894"/>
                          <a:gd name="connsiteX2" fmla="*/ 394022 w 462171"/>
                          <a:gd name="connsiteY2" fmla="*/ 0 h 408894"/>
                          <a:gd name="connsiteX3" fmla="*/ 462171 w 462171"/>
                          <a:gd name="connsiteY3" fmla="*/ 68149 h 408894"/>
                          <a:gd name="connsiteX4" fmla="*/ 462171 w 462171"/>
                          <a:gd name="connsiteY4" fmla="*/ 340745 h 408894"/>
                          <a:gd name="connsiteX5" fmla="*/ 394022 w 462171"/>
                          <a:gd name="connsiteY5" fmla="*/ 408894 h 408894"/>
                          <a:gd name="connsiteX6" fmla="*/ 68149 w 462171"/>
                          <a:gd name="connsiteY6" fmla="*/ 408894 h 408894"/>
                          <a:gd name="connsiteX7" fmla="*/ 0 w 462171"/>
                          <a:gd name="connsiteY7" fmla="*/ 340745 h 408894"/>
                          <a:gd name="connsiteX8" fmla="*/ 0 w 462171"/>
                          <a:gd name="connsiteY8" fmla="*/ 68149 h 40889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2171" h="408894" fill="none" extrusionOk="0">
                            <a:moveTo>
                              <a:pt x="0" y="68149"/>
                            </a:moveTo>
                            <a:cubicBezTo>
                              <a:pt x="208" y="36146"/>
                              <a:pt x="31657" y="1923"/>
                              <a:pt x="68149" y="0"/>
                            </a:cubicBezTo>
                            <a:cubicBezTo>
                              <a:pt x="217234" y="12548"/>
                              <a:pt x="341713" y="1676"/>
                              <a:pt x="394022" y="0"/>
                            </a:cubicBezTo>
                            <a:cubicBezTo>
                              <a:pt x="430779" y="-6064"/>
                              <a:pt x="455442" y="28476"/>
                              <a:pt x="462171" y="68149"/>
                            </a:cubicBezTo>
                            <a:cubicBezTo>
                              <a:pt x="440991" y="95453"/>
                              <a:pt x="478909" y="289373"/>
                              <a:pt x="462171" y="340745"/>
                            </a:cubicBezTo>
                            <a:cubicBezTo>
                              <a:pt x="462884" y="374763"/>
                              <a:pt x="426870" y="403525"/>
                              <a:pt x="394022" y="408894"/>
                            </a:cubicBezTo>
                            <a:cubicBezTo>
                              <a:pt x="234908" y="390106"/>
                              <a:pt x="168271" y="417663"/>
                              <a:pt x="68149" y="408894"/>
                            </a:cubicBezTo>
                            <a:cubicBezTo>
                              <a:pt x="32154" y="408708"/>
                              <a:pt x="-5283" y="379428"/>
                              <a:pt x="0" y="340745"/>
                            </a:cubicBezTo>
                            <a:cubicBezTo>
                              <a:pt x="10144" y="271721"/>
                              <a:pt x="21447" y="115558"/>
                              <a:pt x="0" y="68149"/>
                            </a:cubicBezTo>
                            <a:close/>
                          </a:path>
                          <a:path w="462171" h="408894" stroke="0" extrusionOk="0">
                            <a:moveTo>
                              <a:pt x="0" y="68149"/>
                            </a:moveTo>
                            <a:cubicBezTo>
                              <a:pt x="5560" y="32027"/>
                              <a:pt x="31799" y="2683"/>
                              <a:pt x="68149" y="0"/>
                            </a:cubicBezTo>
                            <a:cubicBezTo>
                              <a:pt x="116497" y="2423"/>
                              <a:pt x="349174" y="-22080"/>
                              <a:pt x="394022" y="0"/>
                            </a:cubicBezTo>
                            <a:cubicBezTo>
                              <a:pt x="430400" y="-960"/>
                              <a:pt x="463138" y="28561"/>
                              <a:pt x="462171" y="68149"/>
                            </a:cubicBezTo>
                            <a:cubicBezTo>
                              <a:pt x="481371" y="200024"/>
                              <a:pt x="451440" y="285046"/>
                              <a:pt x="462171" y="340745"/>
                            </a:cubicBezTo>
                            <a:cubicBezTo>
                              <a:pt x="455360" y="380850"/>
                              <a:pt x="431001" y="408786"/>
                              <a:pt x="394022" y="408894"/>
                            </a:cubicBezTo>
                            <a:cubicBezTo>
                              <a:pt x="266190" y="390633"/>
                              <a:pt x="130523" y="414594"/>
                              <a:pt x="68149" y="408894"/>
                            </a:cubicBezTo>
                            <a:cubicBezTo>
                              <a:pt x="28195" y="408426"/>
                              <a:pt x="-6848" y="375281"/>
                              <a:pt x="0" y="340745"/>
                            </a:cubicBezTo>
                            <a:cubicBezTo>
                              <a:pt x="-23096" y="258284"/>
                              <a:pt x="21205" y="181735"/>
                              <a:pt x="0" y="68149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pc="100" dirty="0">
                  <a:latin typeface="Noto Sans CJK SC" panose="020B0200000000000000" pitchFamily="34" charset="-128"/>
                  <a:ea typeface="Noto Sans CJK SC" panose="020B0200000000000000" pitchFamily="34" charset="-128"/>
                </a:endParaRPr>
              </a:p>
            </p:txBody>
          </p:sp>
          <p:sp>
            <p:nvSpPr>
              <p:cNvPr id="28" name="Arrow: Pentagon 27">
                <a:extLst>
                  <a:ext uri="{FF2B5EF4-FFF2-40B4-BE49-F238E27FC236}">
                    <a16:creationId xmlns:a16="http://schemas.microsoft.com/office/drawing/2014/main" id="{BFA0A110-34D9-BE49-5002-518ECF799713}"/>
                  </a:ext>
                </a:extLst>
              </p:cNvPr>
              <p:cNvSpPr/>
              <p:nvPr/>
            </p:nvSpPr>
            <p:spPr>
              <a:xfrm>
                <a:off x="1571626" y="1290697"/>
                <a:ext cx="313083" cy="408894"/>
              </a:xfrm>
              <a:prstGeom prst="homePlate">
                <a:avLst/>
              </a:prstGeom>
              <a:gradFill flip="none" rotWithShape="1">
                <a:gsLst>
                  <a:gs pos="5000">
                    <a:srgbClr val="FED25D"/>
                  </a:gs>
                  <a:gs pos="50000">
                    <a:srgbClr val="FFB53C"/>
                  </a:gs>
                  <a:gs pos="99000">
                    <a:srgbClr val="FED25D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pc="100">
                  <a:latin typeface="Noto Sans CJK SC" panose="020B0200000000000000" pitchFamily="34" charset="-128"/>
                  <a:ea typeface="Noto Sans CJK SC" panose="020B0200000000000000" pitchFamily="34" charset="-128"/>
                </a:endParaRPr>
              </a:p>
            </p:txBody>
          </p: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7B90ED4-D951-C350-E764-698CB9B04BE2}"/>
                </a:ext>
              </a:extLst>
            </p:cNvPr>
            <p:cNvSpPr/>
            <p:nvPr/>
          </p:nvSpPr>
          <p:spPr>
            <a:xfrm>
              <a:off x="1903986" y="2037676"/>
              <a:ext cx="10277854" cy="1140738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zh-CN" altLang="en-US" b="1" spc="100" dirty="0">
                  <a:solidFill>
                    <a:srgbClr val="0E4F9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农业方面，粮食产量年均增长率从</a:t>
              </a: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 </a:t>
              </a:r>
              <a:r>
                <a:rPr kumimoji="0" lang="en-US" altLang="zh-CN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1.5% </a:t>
              </a: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升至</a:t>
              </a:r>
              <a:r>
                <a:rPr kumimoji="0" lang="zh-CN" altLang="en-US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 </a:t>
              </a:r>
              <a:r>
                <a:rPr kumimoji="0" lang="en-US" altLang="zh-CN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4.9% </a:t>
              </a: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；</a:t>
              </a:r>
              <a:endParaRPr kumimoji="0" lang="en-US" altLang="zh-CN" sz="1800" b="1" i="0" u="none" strike="noStrike" kern="1200" cap="none" spc="100" normalizeH="0" baseline="0" noProof="0" dirty="0">
                <a:ln>
                  <a:noFill/>
                </a:ln>
                <a:solidFill>
                  <a:srgbClr val="0E4F9B"/>
                </a:soli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zh-CN" altLang="en-US" b="1" spc="100" dirty="0">
                  <a:solidFill>
                    <a:srgbClr val="0E4F9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工业领域，全要素生产率年均增长</a:t>
              </a:r>
              <a:r>
                <a:rPr kumimoji="0" lang="zh-CN" altLang="en-US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 </a:t>
              </a:r>
              <a:r>
                <a:rPr kumimoji="0" lang="en-US" altLang="zh-CN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2</a:t>
              </a:r>
              <a:r>
                <a:rPr lang="en-US" altLang="zh-CN" sz="2800" b="1" spc="100" dirty="0"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.</a:t>
              </a:r>
              <a:r>
                <a:rPr kumimoji="0" lang="en-US" altLang="zh-CN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8% </a:t>
              </a: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/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，</a:t>
              </a:r>
              <a:r>
                <a:rPr kumimoji="0" lang="zh-CN" altLang="en-US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企业</a:t>
              </a:r>
              <a:r>
                <a:rPr lang="zh-CN" altLang="en-US" sz="2800" b="1" spc="100" dirty="0"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改革</a:t>
              </a:r>
              <a:r>
                <a:rPr kumimoji="0" lang="zh-CN" altLang="en-US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0E4F9B"/>
                  </a:solidFill>
                  <a:effectLst>
                    <a:reflection blurRad="6350" stA="60000" endA="900" endPos="60000" dist="29997" dir="5400000" sy="-100000" algn="bl" rotWithShape="0"/>
                  </a:effectLst>
                  <a:uLnTx/>
                  <a:uFillTx/>
                  <a:latin typeface="Noto Sans CJK SC" panose="020B0200000000000000" pitchFamily="34" charset="-128"/>
                  <a:ea typeface="Noto Sans CJK SC" panose="020B0200000000000000" pitchFamily="34" charset="-128"/>
                  <a:cs typeface="+mn-cs"/>
                </a:rPr>
                <a:t> </a:t>
              </a:r>
              <a:r>
                <a:rPr lang="zh-CN" altLang="en-US" b="1" spc="100" dirty="0">
                  <a:solidFill>
                    <a:srgbClr val="0E4F9B"/>
                  </a:solidFill>
                  <a:latin typeface="Noto Sans CJK SC" panose="020B0200000000000000" pitchFamily="34" charset="-128"/>
                  <a:ea typeface="Noto Sans CJK SC" panose="020B0200000000000000" pitchFamily="34" charset="-128"/>
                </a:rPr>
                <a:t>是效率突破的主要动力。</a:t>
              </a:r>
              <a:endParaRPr kumimoji="0" lang="en-US" sz="1800" b="1" i="0" u="none" strike="noStrike" kern="1200" cap="none" spc="100" normalizeH="0" baseline="0" noProof="0" dirty="0">
                <a:ln>
                  <a:noFill/>
                </a:ln>
                <a:solidFill>
                  <a:srgbClr val="0E4F9B"/>
                </a:solidFill>
                <a:effectLst/>
                <a:uLnTx/>
                <a:uFillTx/>
                <a:latin typeface="Noto Sans CJK SC" panose="020B0200000000000000" pitchFamily="34" charset="-128"/>
                <a:ea typeface="Noto Sans CJK SC" panose="020B0200000000000000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271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B6D406F4-8485-E0AF-E923-ED07628DB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64460"/>
            <a:ext cx="1642533" cy="923925"/>
          </a:xfrm>
          <a:prstGeom prst="rect">
            <a:avLst/>
          </a:prstGeom>
        </p:spPr>
      </p:pic>
      <p:pic>
        <p:nvPicPr>
          <p:cNvPr id="35" name="Picture 34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E096558B-ACDF-69ED-CDFF-C6E426E24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2" y="4512059"/>
            <a:ext cx="1642533" cy="923925"/>
          </a:xfrm>
          <a:prstGeom prst="rect">
            <a:avLst/>
          </a:prstGeom>
        </p:spPr>
      </p:pic>
      <p:pic>
        <p:nvPicPr>
          <p:cNvPr id="20" name="Picture 19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7C95FAB7-793F-BB88-3B96-625E25D0F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705" y="4664460"/>
            <a:ext cx="1642533" cy="923925"/>
          </a:xfrm>
          <a:prstGeom prst="rect">
            <a:avLst/>
          </a:prstGeom>
        </p:spPr>
      </p:pic>
      <p:pic>
        <p:nvPicPr>
          <p:cNvPr id="21" name="Picture 20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CD3DA82D-D8C5-D15F-6A38-1602F091C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707" y="4512059"/>
            <a:ext cx="1642533" cy="923925"/>
          </a:xfrm>
          <a:prstGeom prst="rect">
            <a:avLst/>
          </a:prstGeom>
        </p:spPr>
      </p:pic>
      <p:pic>
        <p:nvPicPr>
          <p:cNvPr id="22" name="Picture 21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0504C2EF-D976-5FED-2E01-0785BF57B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701" y="4354898"/>
            <a:ext cx="1642533" cy="923925"/>
          </a:xfrm>
          <a:prstGeom prst="rect">
            <a:avLst/>
          </a:prstGeom>
        </p:spPr>
      </p:pic>
      <p:pic>
        <p:nvPicPr>
          <p:cNvPr id="23" name="Picture 22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D327E6A4-4D84-BCB1-0AE0-E37FF03EA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703" y="4202497"/>
            <a:ext cx="1642533" cy="923925"/>
          </a:xfrm>
          <a:prstGeom prst="rect">
            <a:avLst/>
          </a:prstGeom>
        </p:spPr>
      </p:pic>
      <p:pic>
        <p:nvPicPr>
          <p:cNvPr id="27" name="Picture 26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44FB739C-D6D7-5C20-EC80-CC4E72029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202" y="4664460"/>
            <a:ext cx="1642533" cy="923925"/>
          </a:xfrm>
          <a:prstGeom prst="rect">
            <a:avLst/>
          </a:prstGeom>
        </p:spPr>
      </p:pic>
      <p:pic>
        <p:nvPicPr>
          <p:cNvPr id="28" name="Picture 27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04DA8E36-4356-39DF-E446-78EA0CB62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204" y="4512059"/>
            <a:ext cx="1642533" cy="923925"/>
          </a:xfrm>
          <a:prstGeom prst="rect">
            <a:avLst/>
          </a:prstGeom>
        </p:spPr>
      </p:pic>
      <p:pic>
        <p:nvPicPr>
          <p:cNvPr id="29" name="Picture 28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0BB04193-8C28-0D7A-8A77-7BEC154E4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198" y="4354898"/>
            <a:ext cx="1642533" cy="923925"/>
          </a:xfrm>
          <a:prstGeom prst="rect">
            <a:avLst/>
          </a:prstGeom>
        </p:spPr>
      </p:pic>
      <p:pic>
        <p:nvPicPr>
          <p:cNvPr id="30" name="Picture 29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09D4AEEB-619E-2BEE-723F-8E6846F40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200" y="4202497"/>
            <a:ext cx="1642533" cy="923925"/>
          </a:xfrm>
          <a:prstGeom prst="rect">
            <a:avLst/>
          </a:prstGeom>
        </p:spPr>
      </p:pic>
      <p:pic>
        <p:nvPicPr>
          <p:cNvPr id="31" name="Picture 30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A188A8E7-6A7E-1563-3F3D-A022DB98E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194" y="4045336"/>
            <a:ext cx="1642533" cy="923925"/>
          </a:xfrm>
          <a:prstGeom prst="rect">
            <a:avLst/>
          </a:prstGeom>
        </p:spPr>
      </p:pic>
      <p:pic>
        <p:nvPicPr>
          <p:cNvPr id="32" name="Picture 31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B34CC072-B7B1-355C-BB3C-DBE512F95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196" y="3892935"/>
            <a:ext cx="1642533" cy="923925"/>
          </a:xfrm>
          <a:prstGeom prst="rect">
            <a:avLst/>
          </a:prstGeom>
        </p:spPr>
      </p:pic>
      <p:pic>
        <p:nvPicPr>
          <p:cNvPr id="33" name="Picture 32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8055B458-233D-ACAC-98B5-65BB693C6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190" y="3735774"/>
            <a:ext cx="1642533" cy="923925"/>
          </a:xfrm>
          <a:prstGeom prst="rect">
            <a:avLst/>
          </a:prstGeom>
        </p:spPr>
      </p:pic>
      <p:pic>
        <p:nvPicPr>
          <p:cNvPr id="37" name="Picture 36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7F076E27-8334-9628-7C74-FFB686EB9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192" y="3583373"/>
            <a:ext cx="1642533" cy="923925"/>
          </a:xfrm>
          <a:prstGeom prst="rect">
            <a:avLst/>
          </a:prstGeom>
        </p:spPr>
      </p:pic>
      <p:pic>
        <p:nvPicPr>
          <p:cNvPr id="38" name="Picture 37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BED0B242-64F1-79A4-3AA4-E4141ED34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85" y="4669220"/>
            <a:ext cx="1642533" cy="923925"/>
          </a:xfrm>
          <a:prstGeom prst="rect">
            <a:avLst/>
          </a:prstGeom>
        </p:spPr>
      </p:pic>
      <p:pic>
        <p:nvPicPr>
          <p:cNvPr id="39" name="Picture 38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152F3499-D31C-BE11-DCE5-4C041CC78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87" y="4516819"/>
            <a:ext cx="1642533" cy="923925"/>
          </a:xfrm>
          <a:prstGeom prst="rect">
            <a:avLst/>
          </a:prstGeom>
        </p:spPr>
      </p:pic>
      <p:pic>
        <p:nvPicPr>
          <p:cNvPr id="40" name="Picture 39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19D06698-FDA5-A7D6-245E-15FE2B911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81" y="4359658"/>
            <a:ext cx="1642533" cy="923925"/>
          </a:xfrm>
          <a:prstGeom prst="rect">
            <a:avLst/>
          </a:prstGeom>
        </p:spPr>
      </p:pic>
      <p:pic>
        <p:nvPicPr>
          <p:cNvPr id="41" name="Picture 40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B4848871-A70A-E7C0-5F28-B1DD9AE2E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83" y="4207257"/>
            <a:ext cx="1642533" cy="923925"/>
          </a:xfrm>
          <a:prstGeom prst="rect">
            <a:avLst/>
          </a:prstGeom>
        </p:spPr>
      </p:pic>
      <p:pic>
        <p:nvPicPr>
          <p:cNvPr id="42" name="Picture 41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F0F6B3E3-D4DB-C39C-4BC4-0D8DAD5C2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77" y="4050096"/>
            <a:ext cx="1642533" cy="923925"/>
          </a:xfrm>
          <a:prstGeom prst="rect">
            <a:avLst/>
          </a:prstGeom>
        </p:spPr>
      </p:pic>
      <p:pic>
        <p:nvPicPr>
          <p:cNvPr id="43" name="Picture 42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029D4A64-3155-A4DE-C596-5CB008E80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79" y="3897695"/>
            <a:ext cx="1642533" cy="923925"/>
          </a:xfrm>
          <a:prstGeom prst="rect">
            <a:avLst/>
          </a:prstGeom>
        </p:spPr>
      </p:pic>
      <p:pic>
        <p:nvPicPr>
          <p:cNvPr id="44" name="Picture 43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C7F286A8-39C7-C95D-2805-A4637A727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73" y="3740534"/>
            <a:ext cx="1642533" cy="923925"/>
          </a:xfrm>
          <a:prstGeom prst="rect">
            <a:avLst/>
          </a:prstGeom>
        </p:spPr>
      </p:pic>
      <p:pic>
        <p:nvPicPr>
          <p:cNvPr id="45" name="Picture 44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E11DDD7D-40C3-D6AF-4C81-81637871E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75" y="3588133"/>
            <a:ext cx="1642533" cy="923925"/>
          </a:xfrm>
          <a:prstGeom prst="rect">
            <a:avLst/>
          </a:prstGeom>
        </p:spPr>
      </p:pic>
      <p:pic>
        <p:nvPicPr>
          <p:cNvPr id="46" name="Picture 45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607E85BD-9EB8-B81A-0E1C-5479ED290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61" y="3438114"/>
            <a:ext cx="1642533" cy="923925"/>
          </a:xfrm>
          <a:prstGeom prst="rect">
            <a:avLst/>
          </a:prstGeom>
        </p:spPr>
      </p:pic>
      <p:pic>
        <p:nvPicPr>
          <p:cNvPr id="47" name="Picture 46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7840CFD9-D452-3270-FDD1-F508E9E74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63" y="3285713"/>
            <a:ext cx="1642533" cy="923925"/>
          </a:xfrm>
          <a:prstGeom prst="rect">
            <a:avLst/>
          </a:prstGeom>
        </p:spPr>
      </p:pic>
      <p:pic>
        <p:nvPicPr>
          <p:cNvPr id="48" name="Picture 47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9C0B7682-4F0A-EB93-46FF-843A61F42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57" y="3128552"/>
            <a:ext cx="1642533" cy="923925"/>
          </a:xfrm>
          <a:prstGeom prst="rect">
            <a:avLst/>
          </a:prstGeom>
        </p:spPr>
      </p:pic>
      <p:pic>
        <p:nvPicPr>
          <p:cNvPr id="49" name="Picture 48" descr="A gold circle on a black background&#10;&#10;Description automatically generated">
            <a:extLst>
              <a:ext uri="{FF2B5EF4-FFF2-40B4-BE49-F238E27FC236}">
                <a16:creationId xmlns:a16="http://schemas.microsoft.com/office/drawing/2014/main" id="{9BA4D6A0-5C79-C680-02C0-E82838DC0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135" r="92448">
                        <a14:foregroundMark x1="8854" y1="38241" x2="7187" y2="51296"/>
                        <a14:foregroundMark x1="91354" y1="39352" x2="92448" y2="55463"/>
                        <a14:foregroundMark x1="92448" y1="55463" x2="92448" y2="554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59" y="2976151"/>
            <a:ext cx="1642533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7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7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8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2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1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1" fill="hold" nodeType="click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nodeType="withEffect" p14:presetBounceEnd="2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 p14:presetBounceEnd="2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5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6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nodeType="withEffect" p14:presetBounceEnd="2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9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3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1" fill="hold" nodeType="click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3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3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nodeType="withEffect" p14:presetBounceEnd="2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3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40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nodeType="withEffect" p14:presetBounceEnd="2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4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44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nodeType="withEffect" p14:presetBounceEnd="2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4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4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nodeType="withEffect" p14:presetBounceEnd="2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5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5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nodeType="withEffect" p14:presetBounceEnd="2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5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5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fill="hold" nodeType="withEffect" p14:presetBounceEnd="2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59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6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1" fill="hold" nodeType="withEffect" p14:presetBounceEnd="20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6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6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2" presetClass="entr" presetSubtype="1" fill="hold" nodeType="clickEffect" p14:presetBounceEnd="2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69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70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1" fill="hold" nodeType="withEffect" p14:presetBounceEnd="2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7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74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" presetClass="entr" presetSubtype="1" fill="hold" nodeType="withEffect" p14:presetBounceEnd="2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7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78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" presetClass="entr" presetSubtype="1" fill="hold" nodeType="withEffect" p14:presetBounceEnd="2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8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8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" presetClass="entr" presetSubtype="1" fill="hold" nodeType="withEffect" p14:presetBounceEnd="2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85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86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nodeType="withEffect" p14:presetBounceEnd="2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8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9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nodeType="withEffect" p14:presetBounceEnd="2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9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94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1" fill="hold" nodeType="withEffect" p14:presetBounceEnd="20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9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9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9" presetID="2" presetClass="entr" presetSubtype="1" fill="hold" nodeType="withEffect" p14:presetBounceEnd="20000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0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0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2" presetClass="entr" presetSubtype="1" fill="hold" nodeType="withEffect" p14:presetBounceEnd="2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0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0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" presetClass="entr" presetSubtype="1" fill="hold" nodeType="withEffect" p14:presetBounceEnd="2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0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10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1" presetID="2" presetClass="entr" presetSubtype="1" fill="hold" nodeType="withEffect" p14:presetBounceEnd="2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1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1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1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" presetClass="entr" presetSubtype="1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1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9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2" presetClass="entr" presetSubtype="1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7" presetID="2" presetClass="entr" presetSubtype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0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1" presetID="2" presetClass="entr" presetSubtype="1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  <wetp:taskpane dockstate="right" visibility="0" width="438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CC7C005-6193-4CB5-833A-0C190FB9EA57}">
  <we:reference id="wa104380050" version="3.8.0.0" store="en-US" storeType="OMEX"/>
  <we:alternateReferences>
    <we:reference id="WA104380050" version="3.8.0.0" store="WA10438005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7D2C99-E2FF-4F07-A363-51101163545A}">
  <we:reference id="wa104380518" version="3.7.0.0" store="en-US" storeType="OMEX"/>
  <we:alternateReferences>
    <we:reference id="wa104380518" version="3.7.0.0" store="wa10438051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362</Words>
  <Application>Microsoft Office PowerPoint</Application>
  <PresentationFormat>Widescreen</PresentationFormat>
  <Paragraphs>55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Noto Sans CJK SC</vt:lpstr>
      <vt:lpstr>Arial</vt:lpstr>
      <vt:lpstr>Office Theme</vt:lpstr>
      <vt:lpstr>一、经济增长成就</vt:lpstr>
      <vt:lpstr>二、产业结构优化</vt:lpstr>
      <vt:lpstr>二、产业结构优化</vt:lpstr>
      <vt:lpstr>二、产业结构优化</vt:lpstr>
      <vt:lpstr>三、国际化进程</vt:lpstr>
      <vt:lpstr>四、全要素生产率提升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S.K. Bi</dc:creator>
  <cp:lastModifiedBy>S.K. Bi</cp:lastModifiedBy>
  <cp:revision>35</cp:revision>
  <dcterms:created xsi:type="dcterms:W3CDTF">2025-12-15T17:55:44Z</dcterms:created>
  <dcterms:modified xsi:type="dcterms:W3CDTF">2025-12-16T14:47:37Z</dcterms:modified>
</cp:coreProperties>
</file>